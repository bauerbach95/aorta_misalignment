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
  </p:notesMasterIdLst>
  <p:sldIdLst>
    <p:sldId id="266" r:id="rId2"/>
    <p:sldId id="268" r:id="rId3"/>
    <p:sldId id="269" r:id="rId4"/>
    <p:sldId id="267" r:id="rId5"/>
  </p:sldIdLst>
  <p:sldSz cx="7562850" cy="99393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95" userDrawn="1">
          <p15:clr>
            <a:srgbClr val="A4A3A4"/>
          </p15:clr>
        </p15:guide>
        <p15:guide id="2" pos="1398" userDrawn="1">
          <p15:clr>
            <a:srgbClr val="A4A3A4"/>
          </p15:clr>
        </p15:guide>
        <p15:guide id="4" orient="horz" pos="3179" userDrawn="1">
          <p15:clr>
            <a:srgbClr val="A4A3A4"/>
          </p15:clr>
        </p15:guide>
        <p15:guide id="5" orient="horz" pos="2603" userDrawn="1">
          <p15:clr>
            <a:srgbClr val="A4A3A4"/>
          </p15:clr>
        </p15:guide>
        <p15:guide id="6" pos="2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806"/>
    <p:restoredTop sz="96327"/>
  </p:normalViewPr>
  <p:slideViewPr>
    <p:cSldViewPr snapToGrid="0" showGuides="1">
      <p:cViewPr>
        <p:scale>
          <a:sx n="89" d="100"/>
          <a:sy n="89" d="100"/>
        </p:scale>
        <p:origin x="4144" y="632"/>
      </p:cViewPr>
      <p:guideLst>
        <p:guide orient="horz" pos="5795"/>
        <p:guide pos="1398"/>
        <p:guide orient="horz" pos="3179"/>
        <p:guide orient="horz" pos="2603"/>
        <p:guide pos="22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04F087-AC96-2341-BEC2-23F010E2C901}" type="datetimeFigureOut">
              <a:rPr lang="en-US" smtClean="0"/>
              <a:t>11/28/22</a:t>
            </a:fld>
            <a:endParaRPr lang="en-US"/>
          </a:p>
        </p:txBody>
      </p:sp>
      <p:sp>
        <p:nvSpPr>
          <p:cNvPr id="4" name="Slide Image Placeholder 3"/>
          <p:cNvSpPr>
            <a:spLocks noGrp="1" noRot="1" noChangeAspect="1"/>
          </p:cNvSpPr>
          <p:nvPr>
            <p:ph type="sldImg" idx="2"/>
          </p:nvPr>
        </p:nvSpPr>
        <p:spPr>
          <a:xfrm>
            <a:off x="2254250" y="1143000"/>
            <a:ext cx="23495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1912B5-17F9-7B4A-9EE2-E3308FDCF897}" type="slidenum">
              <a:rPr lang="en-US" smtClean="0"/>
              <a:t>‹#›</a:t>
            </a:fld>
            <a:endParaRPr lang="en-US"/>
          </a:p>
        </p:txBody>
      </p:sp>
    </p:spTree>
    <p:extLst>
      <p:ext uri="{BB962C8B-B14F-4D97-AF65-F5344CB8AC3E}">
        <p14:creationId xmlns:p14="http://schemas.microsoft.com/office/powerpoint/2010/main" val="754344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1912B5-17F9-7B4A-9EE2-E3308FDCF897}" type="slidenum">
              <a:rPr lang="en-US" smtClean="0"/>
              <a:t>1</a:t>
            </a:fld>
            <a:endParaRPr lang="en-US"/>
          </a:p>
        </p:txBody>
      </p:sp>
    </p:spTree>
    <p:extLst>
      <p:ext uri="{BB962C8B-B14F-4D97-AF65-F5344CB8AC3E}">
        <p14:creationId xmlns:p14="http://schemas.microsoft.com/office/powerpoint/2010/main" val="333474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7214" y="1626647"/>
            <a:ext cx="6428423" cy="3460362"/>
          </a:xfrm>
        </p:spPr>
        <p:txBody>
          <a:bodyPr anchor="b"/>
          <a:lstStyle>
            <a:lvl1pPr algn="ctr">
              <a:defRPr sz="4963"/>
            </a:lvl1pPr>
          </a:lstStyle>
          <a:p>
            <a:r>
              <a:rPr lang="en-US"/>
              <a:t>Click to edit Master title style</a:t>
            </a:r>
            <a:endParaRPr lang="en-US" dirty="0"/>
          </a:p>
        </p:txBody>
      </p:sp>
      <p:sp>
        <p:nvSpPr>
          <p:cNvPr id="3" name="Subtitle 2"/>
          <p:cNvSpPr>
            <a:spLocks noGrp="1"/>
          </p:cNvSpPr>
          <p:nvPr>
            <p:ph type="subTitle" idx="1"/>
          </p:nvPr>
        </p:nvSpPr>
        <p:spPr>
          <a:xfrm>
            <a:off x="945356" y="5220454"/>
            <a:ext cx="5672138" cy="2399705"/>
          </a:xfrm>
        </p:spPr>
        <p:txBody>
          <a:bodyPr/>
          <a:lstStyle>
            <a:lvl1pPr marL="0" indent="0" algn="ctr">
              <a:buNone/>
              <a:defRPr sz="1985"/>
            </a:lvl1pPr>
            <a:lvl2pPr marL="378150" indent="0" algn="ctr">
              <a:buNone/>
              <a:defRPr sz="1654"/>
            </a:lvl2pPr>
            <a:lvl3pPr marL="756300" indent="0" algn="ctr">
              <a:buNone/>
              <a:defRPr sz="1489"/>
            </a:lvl3pPr>
            <a:lvl4pPr marL="1134450" indent="0" algn="ctr">
              <a:buNone/>
              <a:defRPr sz="1323"/>
            </a:lvl4pPr>
            <a:lvl5pPr marL="1512600" indent="0" algn="ctr">
              <a:buNone/>
              <a:defRPr sz="1323"/>
            </a:lvl5pPr>
            <a:lvl6pPr marL="1890751" indent="0" algn="ctr">
              <a:buNone/>
              <a:defRPr sz="1323"/>
            </a:lvl6pPr>
            <a:lvl7pPr marL="2268901" indent="0" algn="ctr">
              <a:buNone/>
              <a:defRPr sz="1323"/>
            </a:lvl7pPr>
            <a:lvl8pPr marL="2647051" indent="0" algn="ctr">
              <a:buNone/>
              <a:defRPr sz="1323"/>
            </a:lvl8pPr>
            <a:lvl9pPr marL="3025201"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4A4149-D1CA-5047-9C48-A4A30432FA50}" type="datetimeFigureOut">
              <a:rPr lang="en-US" smtClean="0"/>
              <a:t>11/28/22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1250634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A4149-D1CA-5047-9C48-A4A30432FA50}" type="datetimeFigureOut">
              <a:rPr lang="en-US" smtClean="0"/>
              <a:t>11/28/22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1556713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6007" y="2477935"/>
            <a:ext cx="6522958" cy="4134488"/>
          </a:xfrm>
        </p:spPr>
        <p:txBody>
          <a:bodyPr anchor="b"/>
          <a:lstStyle>
            <a:lvl1pPr>
              <a:defRPr sz="4963"/>
            </a:lvl1pPr>
          </a:lstStyle>
          <a:p>
            <a:r>
              <a:rPr lang="en-US"/>
              <a:t>Click to edit Master title style</a:t>
            </a:r>
            <a:endParaRPr lang="en-US" dirty="0"/>
          </a:p>
        </p:txBody>
      </p:sp>
      <p:sp>
        <p:nvSpPr>
          <p:cNvPr id="3" name="Text Placeholder 2"/>
          <p:cNvSpPr>
            <a:spLocks noGrp="1"/>
          </p:cNvSpPr>
          <p:nvPr>
            <p:ph type="body" idx="1"/>
          </p:nvPr>
        </p:nvSpPr>
        <p:spPr>
          <a:xfrm>
            <a:off x="516007" y="6651537"/>
            <a:ext cx="6522958" cy="2174229"/>
          </a:xfrm>
        </p:spPr>
        <p:txBody>
          <a:bodyPr/>
          <a:lstStyle>
            <a:lvl1pPr marL="0" indent="0">
              <a:buNone/>
              <a:defRPr sz="1985">
                <a:solidFill>
                  <a:schemeClr val="tx1"/>
                </a:solidFill>
              </a:defRPr>
            </a:lvl1pPr>
            <a:lvl2pPr marL="378150" indent="0">
              <a:buNone/>
              <a:defRPr sz="1654">
                <a:solidFill>
                  <a:schemeClr val="tx1">
                    <a:tint val="75000"/>
                  </a:schemeClr>
                </a:solidFill>
              </a:defRPr>
            </a:lvl2pPr>
            <a:lvl3pPr marL="756300" indent="0">
              <a:buNone/>
              <a:defRPr sz="1489">
                <a:solidFill>
                  <a:schemeClr val="tx1">
                    <a:tint val="75000"/>
                  </a:schemeClr>
                </a:solidFill>
              </a:defRPr>
            </a:lvl3pPr>
            <a:lvl4pPr marL="1134450" indent="0">
              <a:buNone/>
              <a:defRPr sz="1323">
                <a:solidFill>
                  <a:schemeClr val="tx1">
                    <a:tint val="75000"/>
                  </a:schemeClr>
                </a:solidFill>
              </a:defRPr>
            </a:lvl4pPr>
            <a:lvl5pPr marL="1512600" indent="0">
              <a:buNone/>
              <a:defRPr sz="1323">
                <a:solidFill>
                  <a:schemeClr val="tx1">
                    <a:tint val="75000"/>
                  </a:schemeClr>
                </a:solidFill>
              </a:defRPr>
            </a:lvl5pPr>
            <a:lvl6pPr marL="1890751" indent="0">
              <a:buNone/>
              <a:defRPr sz="1323">
                <a:solidFill>
                  <a:schemeClr val="tx1">
                    <a:tint val="75000"/>
                  </a:schemeClr>
                </a:solidFill>
              </a:defRPr>
            </a:lvl6pPr>
            <a:lvl7pPr marL="2268901" indent="0">
              <a:buNone/>
              <a:defRPr sz="1323">
                <a:solidFill>
                  <a:schemeClr val="tx1">
                    <a:tint val="75000"/>
                  </a:schemeClr>
                </a:solidFill>
              </a:defRPr>
            </a:lvl7pPr>
            <a:lvl8pPr marL="2647051" indent="0">
              <a:buNone/>
              <a:defRPr sz="1323">
                <a:solidFill>
                  <a:schemeClr val="tx1">
                    <a:tint val="75000"/>
                  </a:schemeClr>
                </a:solidFill>
              </a:defRPr>
            </a:lvl8pPr>
            <a:lvl9pPr marL="3025201"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4A4149-D1CA-5047-9C48-A4A30432FA50}" type="datetimeFigureOut">
              <a:rPr lang="en-US" smtClean="0"/>
              <a:t>11/28/22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3235487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946" y="2645888"/>
            <a:ext cx="3214211" cy="63064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8693" y="2645888"/>
            <a:ext cx="3214211" cy="63064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4A4149-D1CA-5047-9C48-A4A30432FA50}" type="datetimeFigureOut">
              <a:rPr lang="en-US" smtClean="0"/>
              <a:t>11/28/22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3127156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931" y="529180"/>
            <a:ext cx="6522958" cy="192114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932" y="2436519"/>
            <a:ext cx="3199440" cy="1194100"/>
          </a:xfrm>
        </p:spPr>
        <p:txBody>
          <a:bodyPr anchor="b"/>
          <a:lstStyle>
            <a:lvl1pPr marL="0" indent="0">
              <a:buNone/>
              <a:defRPr sz="1985" b="1"/>
            </a:lvl1pPr>
            <a:lvl2pPr marL="378150" indent="0">
              <a:buNone/>
              <a:defRPr sz="1654" b="1"/>
            </a:lvl2pPr>
            <a:lvl3pPr marL="756300" indent="0">
              <a:buNone/>
              <a:defRPr sz="1489" b="1"/>
            </a:lvl3pPr>
            <a:lvl4pPr marL="1134450" indent="0">
              <a:buNone/>
              <a:defRPr sz="1323" b="1"/>
            </a:lvl4pPr>
            <a:lvl5pPr marL="1512600" indent="0">
              <a:buNone/>
              <a:defRPr sz="1323" b="1"/>
            </a:lvl5pPr>
            <a:lvl6pPr marL="1890751" indent="0">
              <a:buNone/>
              <a:defRPr sz="1323" b="1"/>
            </a:lvl6pPr>
            <a:lvl7pPr marL="2268901" indent="0">
              <a:buNone/>
              <a:defRPr sz="1323" b="1"/>
            </a:lvl7pPr>
            <a:lvl8pPr marL="2647051" indent="0">
              <a:buNone/>
              <a:defRPr sz="1323" b="1"/>
            </a:lvl8pPr>
            <a:lvl9pPr marL="3025201" indent="0">
              <a:buNone/>
              <a:defRPr sz="1323" b="1"/>
            </a:lvl9pPr>
          </a:lstStyle>
          <a:p>
            <a:pPr lvl="0"/>
            <a:r>
              <a:rPr lang="en-US"/>
              <a:t>Click to edit Master text styles</a:t>
            </a:r>
          </a:p>
        </p:txBody>
      </p:sp>
      <p:sp>
        <p:nvSpPr>
          <p:cNvPr id="4" name="Content Placeholder 3"/>
          <p:cNvSpPr>
            <a:spLocks noGrp="1"/>
          </p:cNvSpPr>
          <p:nvPr>
            <p:ph sz="half" idx="2"/>
          </p:nvPr>
        </p:nvSpPr>
        <p:spPr>
          <a:xfrm>
            <a:off x="520932" y="3630619"/>
            <a:ext cx="3199440" cy="534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8693" y="2436519"/>
            <a:ext cx="3215196" cy="1194100"/>
          </a:xfrm>
        </p:spPr>
        <p:txBody>
          <a:bodyPr anchor="b"/>
          <a:lstStyle>
            <a:lvl1pPr marL="0" indent="0">
              <a:buNone/>
              <a:defRPr sz="1985" b="1"/>
            </a:lvl1pPr>
            <a:lvl2pPr marL="378150" indent="0">
              <a:buNone/>
              <a:defRPr sz="1654" b="1"/>
            </a:lvl2pPr>
            <a:lvl3pPr marL="756300" indent="0">
              <a:buNone/>
              <a:defRPr sz="1489" b="1"/>
            </a:lvl3pPr>
            <a:lvl4pPr marL="1134450" indent="0">
              <a:buNone/>
              <a:defRPr sz="1323" b="1"/>
            </a:lvl4pPr>
            <a:lvl5pPr marL="1512600" indent="0">
              <a:buNone/>
              <a:defRPr sz="1323" b="1"/>
            </a:lvl5pPr>
            <a:lvl6pPr marL="1890751" indent="0">
              <a:buNone/>
              <a:defRPr sz="1323" b="1"/>
            </a:lvl6pPr>
            <a:lvl7pPr marL="2268901" indent="0">
              <a:buNone/>
              <a:defRPr sz="1323" b="1"/>
            </a:lvl7pPr>
            <a:lvl8pPr marL="2647051" indent="0">
              <a:buNone/>
              <a:defRPr sz="1323" b="1"/>
            </a:lvl8pPr>
            <a:lvl9pPr marL="3025201"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8693" y="3630619"/>
            <a:ext cx="3215196" cy="5340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4A4149-D1CA-5047-9C48-A4A30432FA50}" type="datetimeFigureOut">
              <a:rPr lang="en-US" smtClean="0"/>
              <a:t>11/28/22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3510012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4A4149-D1CA-5047-9C48-A4A30432FA50}" type="datetimeFigureOut">
              <a:rPr lang="en-US" smtClean="0"/>
              <a:t>11/28/22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209183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4A4149-D1CA-5047-9C48-A4A30432FA50}" type="datetimeFigureOut">
              <a:rPr lang="en-US" smtClean="0"/>
              <a:t>11/28/22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1131332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931" y="662622"/>
            <a:ext cx="2439216" cy="2319179"/>
          </a:xfrm>
        </p:spPr>
        <p:txBody>
          <a:bodyPr anchor="b"/>
          <a:lstStyle>
            <a:lvl1pPr>
              <a:defRPr sz="2647"/>
            </a:lvl1pPr>
          </a:lstStyle>
          <a:p>
            <a:r>
              <a:rPr lang="en-US"/>
              <a:t>Click to edit Master title style</a:t>
            </a:r>
            <a:endParaRPr lang="en-US" dirty="0"/>
          </a:p>
        </p:txBody>
      </p:sp>
      <p:sp>
        <p:nvSpPr>
          <p:cNvPr id="3" name="Content Placeholder 2"/>
          <p:cNvSpPr>
            <a:spLocks noGrp="1"/>
          </p:cNvSpPr>
          <p:nvPr>
            <p:ph idx="1"/>
          </p:nvPr>
        </p:nvSpPr>
        <p:spPr>
          <a:xfrm>
            <a:off x="3215196" y="1431083"/>
            <a:ext cx="3828693" cy="7063372"/>
          </a:xfrm>
        </p:spPr>
        <p:txBody>
          <a:bodyPr/>
          <a:lstStyle>
            <a:lvl1pPr>
              <a:defRPr sz="2647"/>
            </a:lvl1pPr>
            <a:lvl2pPr>
              <a:defRPr sz="2316"/>
            </a:lvl2pPr>
            <a:lvl3pPr>
              <a:defRPr sz="1985"/>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931" y="2981801"/>
            <a:ext cx="2439216" cy="5524156"/>
          </a:xfrm>
        </p:spPr>
        <p:txBody>
          <a:bodyPr/>
          <a:lstStyle>
            <a:lvl1pPr marL="0" indent="0">
              <a:buNone/>
              <a:defRPr sz="1323"/>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2F4A4149-D1CA-5047-9C48-A4A30432FA50}" type="datetimeFigureOut">
              <a:rPr lang="en-US" smtClean="0"/>
              <a:t>11/28/22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615955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931" y="662622"/>
            <a:ext cx="2439216" cy="2319179"/>
          </a:xfrm>
        </p:spPr>
        <p:txBody>
          <a:bodyPr anchor="b"/>
          <a:lstStyle>
            <a:lvl1pPr>
              <a:defRPr sz="2647"/>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5196" y="1431083"/>
            <a:ext cx="3828693" cy="7063372"/>
          </a:xfrm>
        </p:spPr>
        <p:txBody>
          <a:bodyPr anchor="t"/>
          <a:lstStyle>
            <a:lvl1pPr marL="0" indent="0">
              <a:buNone/>
              <a:defRPr sz="2647"/>
            </a:lvl1pPr>
            <a:lvl2pPr marL="378150" indent="0">
              <a:buNone/>
              <a:defRPr sz="2316"/>
            </a:lvl2pPr>
            <a:lvl3pPr marL="756300" indent="0">
              <a:buNone/>
              <a:defRPr sz="1985"/>
            </a:lvl3pPr>
            <a:lvl4pPr marL="1134450" indent="0">
              <a:buNone/>
              <a:defRPr sz="1654"/>
            </a:lvl4pPr>
            <a:lvl5pPr marL="1512600" indent="0">
              <a:buNone/>
              <a:defRPr sz="1654"/>
            </a:lvl5pPr>
            <a:lvl6pPr marL="1890751" indent="0">
              <a:buNone/>
              <a:defRPr sz="1654"/>
            </a:lvl6pPr>
            <a:lvl7pPr marL="2268901" indent="0">
              <a:buNone/>
              <a:defRPr sz="1654"/>
            </a:lvl7pPr>
            <a:lvl8pPr marL="2647051" indent="0">
              <a:buNone/>
              <a:defRPr sz="1654"/>
            </a:lvl8pPr>
            <a:lvl9pPr marL="3025201" indent="0">
              <a:buNone/>
              <a:defRPr sz="1654"/>
            </a:lvl9pPr>
          </a:lstStyle>
          <a:p>
            <a:r>
              <a:rPr lang="en-US"/>
              <a:t>Click icon to add picture</a:t>
            </a:r>
            <a:endParaRPr lang="en-US" dirty="0"/>
          </a:p>
        </p:txBody>
      </p:sp>
      <p:sp>
        <p:nvSpPr>
          <p:cNvPr id="4" name="Text Placeholder 3"/>
          <p:cNvSpPr>
            <a:spLocks noGrp="1"/>
          </p:cNvSpPr>
          <p:nvPr>
            <p:ph type="body" sz="half" idx="2"/>
          </p:nvPr>
        </p:nvSpPr>
        <p:spPr>
          <a:xfrm>
            <a:off x="520931" y="2981801"/>
            <a:ext cx="2439216" cy="5524156"/>
          </a:xfrm>
        </p:spPr>
        <p:txBody>
          <a:bodyPr/>
          <a:lstStyle>
            <a:lvl1pPr marL="0" indent="0">
              <a:buNone/>
              <a:defRPr sz="1323"/>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2F4A4149-D1CA-5047-9C48-A4A30432FA50}" type="datetimeFigureOut">
              <a:rPr lang="en-US" smtClean="0"/>
              <a:t>11/28/22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329504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A4149-D1CA-5047-9C48-A4A30432FA50}" type="datetimeFigureOut">
              <a:rPr lang="en-US" smtClean="0"/>
              <a:t>11/28/22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191249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12165" y="529177"/>
            <a:ext cx="1630740" cy="842313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946" y="529177"/>
            <a:ext cx="4797683" cy="842313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A4149-D1CA-5047-9C48-A4A30432FA50}" type="datetimeFigureOut">
              <a:rPr lang="en-US" smtClean="0"/>
              <a:t>11/28/22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2FE44-9CCE-254F-952B-A2FD319B5BCA}" type="slidenum">
              <a:rPr lang="en-US" smtClean="0"/>
              <a:t>‹#›</a:t>
            </a:fld>
            <a:endParaRPr lang="en-US"/>
          </a:p>
        </p:txBody>
      </p:sp>
    </p:spTree>
    <p:extLst>
      <p:ext uri="{BB962C8B-B14F-4D97-AF65-F5344CB8AC3E}">
        <p14:creationId xmlns:p14="http://schemas.microsoft.com/office/powerpoint/2010/main" val="413934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946" y="529180"/>
            <a:ext cx="6522958" cy="192114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946" y="2645888"/>
            <a:ext cx="6522958" cy="630641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946" y="9212296"/>
            <a:ext cx="1701641" cy="529178"/>
          </a:xfrm>
          <a:prstGeom prst="rect">
            <a:avLst/>
          </a:prstGeom>
        </p:spPr>
        <p:txBody>
          <a:bodyPr vert="horz" lIns="91440" tIns="45720" rIns="91440" bIns="45720" rtlCol="0" anchor="ctr"/>
          <a:lstStyle>
            <a:lvl1pPr algn="l">
              <a:defRPr sz="993">
                <a:solidFill>
                  <a:schemeClr val="tx1">
                    <a:tint val="75000"/>
                  </a:schemeClr>
                </a:solidFill>
              </a:defRPr>
            </a:lvl1pPr>
          </a:lstStyle>
          <a:p>
            <a:fld id="{2F4A4149-D1CA-5047-9C48-A4A30432FA50}" type="datetimeFigureOut">
              <a:rPr lang="en-US" smtClean="0"/>
              <a:t>11/28/22</a:t>
            </a:fld>
            <a:endParaRPr lang="en-US"/>
          </a:p>
        </p:txBody>
      </p:sp>
      <p:sp>
        <p:nvSpPr>
          <p:cNvPr id="5" name="Footer Placeholder 4"/>
          <p:cNvSpPr>
            <a:spLocks noGrp="1"/>
          </p:cNvSpPr>
          <p:nvPr>
            <p:ph type="ftr" sz="quarter" idx="3"/>
          </p:nvPr>
        </p:nvSpPr>
        <p:spPr>
          <a:xfrm>
            <a:off x="2505194" y="9212296"/>
            <a:ext cx="2552462" cy="529178"/>
          </a:xfrm>
          <a:prstGeom prst="rect">
            <a:avLst/>
          </a:prstGeom>
        </p:spPr>
        <p:txBody>
          <a:bodyPr vert="horz" lIns="91440" tIns="45720" rIns="91440" bIns="45720" rtlCol="0" anchor="ctr"/>
          <a:lstStyle>
            <a:lvl1pPr algn="ctr">
              <a:defRPr sz="99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41263" y="9212296"/>
            <a:ext cx="1701641" cy="529178"/>
          </a:xfrm>
          <a:prstGeom prst="rect">
            <a:avLst/>
          </a:prstGeom>
        </p:spPr>
        <p:txBody>
          <a:bodyPr vert="horz" lIns="91440" tIns="45720" rIns="91440" bIns="45720" rtlCol="0" anchor="ctr"/>
          <a:lstStyle>
            <a:lvl1pPr algn="r">
              <a:defRPr sz="993">
                <a:solidFill>
                  <a:schemeClr val="tx1">
                    <a:tint val="75000"/>
                  </a:schemeClr>
                </a:solidFill>
              </a:defRPr>
            </a:lvl1pPr>
          </a:lstStyle>
          <a:p>
            <a:fld id="{1DC2FE44-9CCE-254F-952B-A2FD319B5BCA}" type="slidenum">
              <a:rPr lang="en-US" smtClean="0"/>
              <a:t>‹#›</a:t>
            </a:fld>
            <a:endParaRPr lang="en-US"/>
          </a:p>
        </p:txBody>
      </p:sp>
    </p:spTree>
    <p:extLst>
      <p:ext uri="{BB962C8B-B14F-4D97-AF65-F5344CB8AC3E}">
        <p14:creationId xmlns:p14="http://schemas.microsoft.com/office/powerpoint/2010/main" val="8925585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56300" rtl="0" eaLnBrk="1" latinLnBrk="0" hangingPunct="1">
        <a:lnSpc>
          <a:spcPct val="90000"/>
        </a:lnSpc>
        <a:spcBef>
          <a:spcPct val="0"/>
        </a:spcBef>
        <a:buNone/>
        <a:defRPr sz="3639" kern="1200">
          <a:solidFill>
            <a:schemeClr val="tx1"/>
          </a:solidFill>
          <a:latin typeface="+mj-lt"/>
          <a:ea typeface="+mj-ea"/>
          <a:cs typeface="+mj-cs"/>
        </a:defRPr>
      </a:lvl1pPr>
    </p:titleStyle>
    <p:bodyStyle>
      <a:lvl1pPr marL="189075" indent="-189075" algn="l" defTabSz="756300" rtl="0" eaLnBrk="1" latinLnBrk="0" hangingPunct="1">
        <a:lnSpc>
          <a:spcPct val="90000"/>
        </a:lnSpc>
        <a:spcBef>
          <a:spcPts val="827"/>
        </a:spcBef>
        <a:buFont typeface="Arial" panose="020B0604020202020204" pitchFamily="34" charset="0"/>
        <a:buChar char="•"/>
        <a:defRPr sz="2316" kern="1200">
          <a:solidFill>
            <a:schemeClr val="tx1"/>
          </a:solidFill>
          <a:latin typeface="+mn-lt"/>
          <a:ea typeface="+mn-ea"/>
          <a:cs typeface="+mn-cs"/>
        </a:defRPr>
      </a:lvl1pPr>
      <a:lvl2pPr marL="567225" indent="-189075" algn="l" defTabSz="756300" rtl="0" eaLnBrk="1" latinLnBrk="0" hangingPunct="1">
        <a:lnSpc>
          <a:spcPct val="90000"/>
        </a:lnSpc>
        <a:spcBef>
          <a:spcPts val="414"/>
        </a:spcBef>
        <a:buFont typeface="Arial" panose="020B0604020202020204" pitchFamily="34" charset="0"/>
        <a:buChar char="•"/>
        <a:defRPr sz="1985" kern="1200">
          <a:solidFill>
            <a:schemeClr val="tx1"/>
          </a:solidFill>
          <a:latin typeface="+mn-lt"/>
          <a:ea typeface="+mn-ea"/>
          <a:cs typeface="+mn-cs"/>
        </a:defRPr>
      </a:lvl2pPr>
      <a:lvl3pPr marL="945375" indent="-189075" algn="l" defTabSz="756300" rtl="0" eaLnBrk="1" latinLnBrk="0" hangingPunct="1">
        <a:lnSpc>
          <a:spcPct val="90000"/>
        </a:lnSpc>
        <a:spcBef>
          <a:spcPts val="414"/>
        </a:spcBef>
        <a:buFont typeface="Arial" panose="020B0604020202020204" pitchFamily="34" charset="0"/>
        <a:buChar char="•"/>
        <a:defRPr sz="1654" kern="1200">
          <a:solidFill>
            <a:schemeClr val="tx1"/>
          </a:solidFill>
          <a:latin typeface="+mn-lt"/>
          <a:ea typeface="+mn-ea"/>
          <a:cs typeface="+mn-cs"/>
        </a:defRPr>
      </a:lvl3pPr>
      <a:lvl4pPr marL="1323525"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4pPr>
      <a:lvl5pPr marL="17016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5pPr>
      <a:lvl6pPr marL="207982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6pPr>
      <a:lvl7pPr marL="24579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7pPr>
      <a:lvl8pPr marL="283612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8pPr>
      <a:lvl9pPr marL="32142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9pPr>
    </p:bodyStyle>
    <p:otherStyle>
      <a:defPPr>
        <a:defRPr lang="en-US"/>
      </a:defPPr>
      <a:lvl1pPr marL="0" algn="l" defTabSz="756300" rtl="0" eaLnBrk="1" latinLnBrk="0" hangingPunct="1">
        <a:defRPr sz="1489" kern="1200">
          <a:solidFill>
            <a:schemeClr val="tx1"/>
          </a:solidFill>
          <a:latin typeface="+mn-lt"/>
          <a:ea typeface="+mn-ea"/>
          <a:cs typeface="+mn-cs"/>
        </a:defRPr>
      </a:lvl1pPr>
      <a:lvl2pPr marL="378150" algn="l" defTabSz="756300" rtl="0" eaLnBrk="1" latinLnBrk="0" hangingPunct="1">
        <a:defRPr sz="1489" kern="1200">
          <a:solidFill>
            <a:schemeClr val="tx1"/>
          </a:solidFill>
          <a:latin typeface="+mn-lt"/>
          <a:ea typeface="+mn-ea"/>
          <a:cs typeface="+mn-cs"/>
        </a:defRPr>
      </a:lvl2pPr>
      <a:lvl3pPr marL="756300" algn="l" defTabSz="756300" rtl="0" eaLnBrk="1" latinLnBrk="0" hangingPunct="1">
        <a:defRPr sz="1489" kern="1200">
          <a:solidFill>
            <a:schemeClr val="tx1"/>
          </a:solidFill>
          <a:latin typeface="+mn-lt"/>
          <a:ea typeface="+mn-ea"/>
          <a:cs typeface="+mn-cs"/>
        </a:defRPr>
      </a:lvl3pPr>
      <a:lvl4pPr marL="1134450" algn="l" defTabSz="756300" rtl="0" eaLnBrk="1" latinLnBrk="0" hangingPunct="1">
        <a:defRPr sz="1489" kern="1200">
          <a:solidFill>
            <a:schemeClr val="tx1"/>
          </a:solidFill>
          <a:latin typeface="+mn-lt"/>
          <a:ea typeface="+mn-ea"/>
          <a:cs typeface="+mn-cs"/>
        </a:defRPr>
      </a:lvl4pPr>
      <a:lvl5pPr marL="1512600" algn="l" defTabSz="756300" rtl="0" eaLnBrk="1" latinLnBrk="0" hangingPunct="1">
        <a:defRPr sz="1489" kern="1200">
          <a:solidFill>
            <a:schemeClr val="tx1"/>
          </a:solidFill>
          <a:latin typeface="+mn-lt"/>
          <a:ea typeface="+mn-ea"/>
          <a:cs typeface="+mn-cs"/>
        </a:defRPr>
      </a:lvl5pPr>
      <a:lvl6pPr marL="1890751" algn="l" defTabSz="756300" rtl="0" eaLnBrk="1" latinLnBrk="0" hangingPunct="1">
        <a:defRPr sz="1489" kern="1200">
          <a:solidFill>
            <a:schemeClr val="tx1"/>
          </a:solidFill>
          <a:latin typeface="+mn-lt"/>
          <a:ea typeface="+mn-ea"/>
          <a:cs typeface="+mn-cs"/>
        </a:defRPr>
      </a:lvl6pPr>
      <a:lvl7pPr marL="2268901" algn="l" defTabSz="756300" rtl="0" eaLnBrk="1" latinLnBrk="0" hangingPunct="1">
        <a:defRPr sz="1489" kern="1200">
          <a:solidFill>
            <a:schemeClr val="tx1"/>
          </a:solidFill>
          <a:latin typeface="+mn-lt"/>
          <a:ea typeface="+mn-ea"/>
          <a:cs typeface="+mn-cs"/>
        </a:defRPr>
      </a:lvl7pPr>
      <a:lvl8pPr marL="2647051" algn="l" defTabSz="756300" rtl="0" eaLnBrk="1" latinLnBrk="0" hangingPunct="1">
        <a:defRPr sz="1489" kern="1200">
          <a:solidFill>
            <a:schemeClr val="tx1"/>
          </a:solidFill>
          <a:latin typeface="+mn-lt"/>
          <a:ea typeface="+mn-ea"/>
          <a:cs typeface="+mn-cs"/>
        </a:defRPr>
      </a:lvl8pPr>
      <a:lvl9pPr marL="3025201" algn="l" defTabSz="756300" rtl="0" eaLnBrk="1" latinLnBrk="0" hangingPunct="1">
        <a:defRPr sz="14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image" Target="../media/image11.png"/><Relationship Id="rId3" Type="http://schemas.openxmlformats.org/officeDocument/2006/relationships/image" Target="../media/image1.emf"/><Relationship Id="rId7" Type="http://schemas.openxmlformats.org/officeDocument/2006/relationships/image" Target="../media/image5.emf"/><Relationship Id="rId12"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11" Type="http://schemas.openxmlformats.org/officeDocument/2006/relationships/image" Target="../media/image9.emf"/><Relationship Id="rId5" Type="http://schemas.openxmlformats.org/officeDocument/2006/relationships/image" Target="../media/image3.emf"/><Relationship Id="rId10" Type="http://schemas.openxmlformats.org/officeDocument/2006/relationships/image" Target="../media/image8.emf"/><Relationship Id="rId4" Type="http://schemas.openxmlformats.org/officeDocument/2006/relationships/image" Target="../media/image2.emf"/><Relationship Id="rId9" Type="http://schemas.openxmlformats.org/officeDocument/2006/relationships/image" Target="../media/image7.emf"/><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4.emf"/><Relationship Id="rId7" Type="http://schemas.openxmlformats.org/officeDocument/2006/relationships/image" Target="../media/image18.emf"/><Relationship Id="rId2" Type="http://schemas.openxmlformats.org/officeDocument/2006/relationships/image" Target="../media/image13.emf"/><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 Id="rId9" Type="http://schemas.openxmlformats.org/officeDocument/2006/relationships/image" Target="../media/image20.emf"/></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2.emf"/><Relationship Id="rId7" Type="http://schemas.openxmlformats.org/officeDocument/2006/relationships/image" Target="../media/image26.emf"/><Relationship Id="rId2" Type="http://schemas.openxmlformats.org/officeDocument/2006/relationships/image" Target="../media/image21.emf"/><Relationship Id="rId1" Type="http://schemas.openxmlformats.org/officeDocument/2006/relationships/slideLayout" Target="../slideLayouts/slideLayout2.xml"/><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2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TextBox 116">
            <a:extLst>
              <a:ext uri="{FF2B5EF4-FFF2-40B4-BE49-F238E27FC236}">
                <a16:creationId xmlns:a16="http://schemas.microsoft.com/office/drawing/2014/main" id="{B1E1B44D-E68B-FD96-2077-C5313B71695D}"/>
              </a:ext>
            </a:extLst>
          </p:cNvPr>
          <p:cNvSpPr txBox="1"/>
          <p:nvPr/>
        </p:nvSpPr>
        <p:spPr>
          <a:xfrm>
            <a:off x="110888" y="19021"/>
            <a:ext cx="117475" cy="200055"/>
          </a:xfrm>
          <a:prstGeom prst="rect">
            <a:avLst/>
          </a:prstGeom>
          <a:noFill/>
        </p:spPr>
        <p:txBody>
          <a:bodyPr wrap="square" rtlCol="0">
            <a:spAutoFit/>
          </a:bodyPr>
          <a:lstStyle/>
          <a:p>
            <a:pPr algn="ctr"/>
            <a:r>
              <a:rPr lang="en-US" sz="700" b="1" dirty="0">
                <a:latin typeface="Arial" panose="020B0604020202020204" pitchFamily="34" charset="0"/>
                <a:cs typeface="Arial" panose="020B0604020202020204" pitchFamily="34" charset="0"/>
              </a:rPr>
              <a:t>a</a:t>
            </a:r>
          </a:p>
        </p:txBody>
      </p:sp>
      <p:pic>
        <p:nvPicPr>
          <p:cNvPr id="5" name="Picture 4">
            <a:extLst>
              <a:ext uri="{FF2B5EF4-FFF2-40B4-BE49-F238E27FC236}">
                <a16:creationId xmlns:a16="http://schemas.microsoft.com/office/drawing/2014/main" id="{BFBD0691-0513-179A-6E59-F002F40A5DD4}"/>
              </a:ext>
            </a:extLst>
          </p:cNvPr>
          <p:cNvPicPr>
            <a:picLocks noChangeAspect="1"/>
          </p:cNvPicPr>
          <p:nvPr/>
        </p:nvPicPr>
        <p:blipFill>
          <a:blip r:embed="rId3"/>
          <a:stretch>
            <a:fillRect/>
          </a:stretch>
        </p:blipFill>
        <p:spPr>
          <a:xfrm>
            <a:off x="140863" y="186247"/>
            <a:ext cx="1968500" cy="1562100"/>
          </a:xfrm>
          <a:prstGeom prst="rect">
            <a:avLst/>
          </a:prstGeom>
        </p:spPr>
      </p:pic>
      <p:sp>
        <p:nvSpPr>
          <p:cNvPr id="6" name="TextBox 5">
            <a:extLst>
              <a:ext uri="{FF2B5EF4-FFF2-40B4-BE49-F238E27FC236}">
                <a16:creationId xmlns:a16="http://schemas.microsoft.com/office/drawing/2014/main" id="{55EF4BCA-E5EF-7D8C-2729-49F34C106EDF}"/>
              </a:ext>
            </a:extLst>
          </p:cNvPr>
          <p:cNvSpPr txBox="1"/>
          <p:nvPr/>
        </p:nvSpPr>
        <p:spPr>
          <a:xfrm>
            <a:off x="1015605" y="55521"/>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Male</a:t>
            </a:r>
          </a:p>
        </p:txBody>
      </p:sp>
      <p:sp>
        <p:nvSpPr>
          <p:cNvPr id="7" name="TextBox 6">
            <a:extLst>
              <a:ext uri="{FF2B5EF4-FFF2-40B4-BE49-F238E27FC236}">
                <a16:creationId xmlns:a16="http://schemas.microsoft.com/office/drawing/2014/main" id="{754EA35A-82B7-3240-5665-4509E018306B}"/>
              </a:ext>
            </a:extLst>
          </p:cNvPr>
          <p:cNvSpPr txBox="1"/>
          <p:nvPr/>
        </p:nvSpPr>
        <p:spPr>
          <a:xfrm rot="16200000">
            <a:off x="-275151" y="548982"/>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Esr1</a:t>
            </a:r>
          </a:p>
        </p:txBody>
      </p:sp>
      <p:pic>
        <p:nvPicPr>
          <p:cNvPr id="10" name="Picture 9">
            <a:extLst>
              <a:ext uri="{FF2B5EF4-FFF2-40B4-BE49-F238E27FC236}">
                <a16:creationId xmlns:a16="http://schemas.microsoft.com/office/drawing/2014/main" id="{BFA0EE96-4A1F-1D08-87E8-B08518C94B14}"/>
              </a:ext>
            </a:extLst>
          </p:cNvPr>
          <p:cNvPicPr>
            <a:picLocks noChangeAspect="1"/>
          </p:cNvPicPr>
          <p:nvPr/>
        </p:nvPicPr>
        <p:blipFill>
          <a:blip r:embed="rId4"/>
          <a:stretch>
            <a:fillRect/>
          </a:stretch>
        </p:blipFill>
        <p:spPr>
          <a:xfrm>
            <a:off x="2023638" y="168253"/>
            <a:ext cx="1968500" cy="1562100"/>
          </a:xfrm>
          <a:prstGeom prst="rect">
            <a:avLst/>
          </a:prstGeom>
        </p:spPr>
      </p:pic>
      <p:pic>
        <p:nvPicPr>
          <p:cNvPr id="46" name="Picture 45">
            <a:extLst>
              <a:ext uri="{FF2B5EF4-FFF2-40B4-BE49-F238E27FC236}">
                <a16:creationId xmlns:a16="http://schemas.microsoft.com/office/drawing/2014/main" id="{1F0DE23A-8A24-4963-EC21-CAED28AC64A6}"/>
              </a:ext>
            </a:extLst>
          </p:cNvPr>
          <p:cNvPicPr>
            <a:picLocks noChangeAspect="1"/>
          </p:cNvPicPr>
          <p:nvPr/>
        </p:nvPicPr>
        <p:blipFill>
          <a:blip r:embed="rId5"/>
          <a:stretch>
            <a:fillRect/>
          </a:stretch>
        </p:blipFill>
        <p:spPr>
          <a:xfrm>
            <a:off x="2023638" y="1636188"/>
            <a:ext cx="1968500" cy="1562100"/>
          </a:xfrm>
          <a:prstGeom prst="rect">
            <a:avLst/>
          </a:prstGeom>
        </p:spPr>
      </p:pic>
      <p:pic>
        <p:nvPicPr>
          <p:cNvPr id="50" name="Picture 49">
            <a:extLst>
              <a:ext uri="{FF2B5EF4-FFF2-40B4-BE49-F238E27FC236}">
                <a16:creationId xmlns:a16="http://schemas.microsoft.com/office/drawing/2014/main" id="{9BAE961A-5CAA-4455-667D-53CD298AEEB8}"/>
              </a:ext>
            </a:extLst>
          </p:cNvPr>
          <p:cNvPicPr>
            <a:picLocks noChangeAspect="1"/>
          </p:cNvPicPr>
          <p:nvPr/>
        </p:nvPicPr>
        <p:blipFill>
          <a:blip r:embed="rId6"/>
          <a:stretch>
            <a:fillRect/>
          </a:stretch>
        </p:blipFill>
        <p:spPr>
          <a:xfrm>
            <a:off x="153940" y="1637873"/>
            <a:ext cx="1968500" cy="1562100"/>
          </a:xfrm>
          <a:prstGeom prst="rect">
            <a:avLst/>
          </a:prstGeom>
        </p:spPr>
      </p:pic>
      <p:sp>
        <p:nvSpPr>
          <p:cNvPr id="53" name="TextBox 52">
            <a:extLst>
              <a:ext uri="{FF2B5EF4-FFF2-40B4-BE49-F238E27FC236}">
                <a16:creationId xmlns:a16="http://schemas.microsoft.com/office/drawing/2014/main" id="{143700C8-FF9E-EA1D-BCA2-C459391D0B2D}"/>
              </a:ext>
            </a:extLst>
          </p:cNvPr>
          <p:cNvSpPr txBox="1"/>
          <p:nvPr/>
        </p:nvSpPr>
        <p:spPr>
          <a:xfrm rot="16200000">
            <a:off x="-276830" y="2078253"/>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Hspa1a</a:t>
            </a:r>
          </a:p>
        </p:txBody>
      </p:sp>
      <p:pic>
        <p:nvPicPr>
          <p:cNvPr id="56" name="Picture 55">
            <a:extLst>
              <a:ext uri="{FF2B5EF4-FFF2-40B4-BE49-F238E27FC236}">
                <a16:creationId xmlns:a16="http://schemas.microsoft.com/office/drawing/2014/main" id="{9C228DB7-C340-B59A-5328-90748D3111A5}"/>
              </a:ext>
            </a:extLst>
          </p:cNvPr>
          <p:cNvPicPr>
            <a:picLocks noChangeAspect="1"/>
          </p:cNvPicPr>
          <p:nvPr/>
        </p:nvPicPr>
        <p:blipFill>
          <a:blip r:embed="rId7"/>
          <a:stretch>
            <a:fillRect/>
          </a:stretch>
        </p:blipFill>
        <p:spPr>
          <a:xfrm>
            <a:off x="153940" y="3087814"/>
            <a:ext cx="1968500" cy="1562100"/>
          </a:xfrm>
          <a:prstGeom prst="rect">
            <a:avLst/>
          </a:prstGeom>
        </p:spPr>
      </p:pic>
      <p:pic>
        <p:nvPicPr>
          <p:cNvPr id="58" name="Picture 57">
            <a:extLst>
              <a:ext uri="{FF2B5EF4-FFF2-40B4-BE49-F238E27FC236}">
                <a16:creationId xmlns:a16="http://schemas.microsoft.com/office/drawing/2014/main" id="{4BFFB059-E86A-3EDC-943D-B630DF164A09}"/>
              </a:ext>
            </a:extLst>
          </p:cNvPr>
          <p:cNvPicPr>
            <a:picLocks noChangeAspect="1"/>
          </p:cNvPicPr>
          <p:nvPr/>
        </p:nvPicPr>
        <p:blipFill>
          <a:blip r:embed="rId8"/>
          <a:stretch>
            <a:fillRect/>
          </a:stretch>
        </p:blipFill>
        <p:spPr>
          <a:xfrm>
            <a:off x="2023638" y="3068345"/>
            <a:ext cx="1968500" cy="1574800"/>
          </a:xfrm>
          <a:prstGeom prst="rect">
            <a:avLst/>
          </a:prstGeom>
        </p:spPr>
      </p:pic>
      <p:sp>
        <p:nvSpPr>
          <p:cNvPr id="59" name="TextBox 58">
            <a:extLst>
              <a:ext uri="{FF2B5EF4-FFF2-40B4-BE49-F238E27FC236}">
                <a16:creationId xmlns:a16="http://schemas.microsoft.com/office/drawing/2014/main" id="{C3256B4E-3C31-5274-7C60-C1424CB2320A}"/>
              </a:ext>
            </a:extLst>
          </p:cNvPr>
          <p:cNvSpPr txBox="1"/>
          <p:nvPr/>
        </p:nvSpPr>
        <p:spPr>
          <a:xfrm rot="16200000">
            <a:off x="-276831" y="3482957"/>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Mcm6</a:t>
            </a:r>
          </a:p>
        </p:txBody>
      </p:sp>
      <p:pic>
        <p:nvPicPr>
          <p:cNvPr id="61" name="Picture 60">
            <a:extLst>
              <a:ext uri="{FF2B5EF4-FFF2-40B4-BE49-F238E27FC236}">
                <a16:creationId xmlns:a16="http://schemas.microsoft.com/office/drawing/2014/main" id="{6BFC61C0-A529-07E1-B894-C28563ECFA46}"/>
              </a:ext>
            </a:extLst>
          </p:cNvPr>
          <p:cNvPicPr>
            <a:picLocks noChangeAspect="1"/>
          </p:cNvPicPr>
          <p:nvPr/>
        </p:nvPicPr>
        <p:blipFill>
          <a:blip r:embed="rId9"/>
          <a:stretch>
            <a:fillRect/>
          </a:stretch>
        </p:blipFill>
        <p:spPr>
          <a:xfrm>
            <a:off x="2023638" y="4537755"/>
            <a:ext cx="1968500" cy="1562100"/>
          </a:xfrm>
          <a:prstGeom prst="rect">
            <a:avLst/>
          </a:prstGeom>
        </p:spPr>
      </p:pic>
      <p:sp>
        <p:nvSpPr>
          <p:cNvPr id="63" name="TextBox 62">
            <a:extLst>
              <a:ext uri="{FF2B5EF4-FFF2-40B4-BE49-F238E27FC236}">
                <a16:creationId xmlns:a16="http://schemas.microsoft.com/office/drawing/2014/main" id="{2D7BFAB0-A210-0516-00C9-9E538A74A496}"/>
              </a:ext>
            </a:extLst>
          </p:cNvPr>
          <p:cNvSpPr txBox="1"/>
          <p:nvPr/>
        </p:nvSpPr>
        <p:spPr>
          <a:xfrm rot="16200000">
            <a:off x="-275151" y="4891929"/>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Plat</a:t>
            </a:r>
          </a:p>
        </p:txBody>
      </p:sp>
      <p:pic>
        <p:nvPicPr>
          <p:cNvPr id="65" name="Picture 64">
            <a:extLst>
              <a:ext uri="{FF2B5EF4-FFF2-40B4-BE49-F238E27FC236}">
                <a16:creationId xmlns:a16="http://schemas.microsoft.com/office/drawing/2014/main" id="{D03FA402-03BF-B268-348F-0E91EA96D013}"/>
              </a:ext>
            </a:extLst>
          </p:cNvPr>
          <p:cNvPicPr>
            <a:picLocks noChangeAspect="1"/>
          </p:cNvPicPr>
          <p:nvPr/>
        </p:nvPicPr>
        <p:blipFill>
          <a:blip r:embed="rId10"/>
          <a:stretch>
            <a:fillRect/>
          </a:stretch>
        </p:blipFill>
        <p:spPr>
          <a:xfrm>
            <a:off x="2023638" y="6017522"/>
            <a:ext cx="1968500" cy="1562100"/>
          </a:xfrm>
          <a:prstGeom prst="rect">
            <a:avLst/>
          </a:prstGeom>
        </p:spPr>
      </p:pic>
      <p:sp>
        <p:nvSpPr>
          <p:cNvPr id="66" name="TextBox 65">
            <a:extLst>
              <a:ext uri="{FF2B5EF4-FFF2-40B4-BE49-F238E27FC236}">
                <a16:creationId xmlns:a16="http://schemas.microsoft.com/office/drawing/2014/main" id="{F3AEDCA3-9DF8-0E02-5BAD-51CEC154762B}"/>
              </a:ext>
            </a:extLst>
          </p:cNvPr>
          <p:cNvSpPr txBox="1"/>
          <p:nvPr/>
        </p:nvSpPr>
        <p:spPr>
          <a:xfrm rot="16200000">
            <a:off x="-275151" y="6381455"/>
            <a:ext cx="708441" cy="200055"/>
          </a:xfrm>
          <a:prstGeom prst="rect">
            <a:avLst/>
          </a:prstGeom>
          <a:noFill/>
        </p:spPr>
        <p:txBody>
          <a:bodyPr wrap="square" rtlCol="0">
            <a:spAutoFit/>
          </a:bodyPr>
          <a:lstStyle/>
          <a:p>
            <a:r>
              <a:rPr lang="en-US" sz="700" u="sng" dirty="0" err="1">
                <a:latin typeface="Arial" panose="020B0604020202020204" pitchFamily="34" charset="0"/>
                <a:cs typeface="Arial" panose="020B0604020202020204" pitchFamily="34" charset="0"/>
              </a:rPr>
              <a:t>Apoe</a:t>
            </a:r>
            <a:endParaRPr lang="en-US" sz="700" u="sng" dirty="0">
              <a:latin typeface="Arial" panose="020B0604020202020204" pitchFamily="34" charset="0"/>
              <a:cs typeface="Arial" panose="020B0604020202020204" pitchFamily="34" charset="0"/>
            </a:endParaRPr>
          </a:p>
        </p:txBody>
      </p:sp>
      <p:pic>
        <p:nvPicPr>
          <p:cNvPr id="68" name="Picture 67">
            <a:extLst>
              <a:ext uri="{FF2B5EF4-FFF2-40B4-BE49-F238E27FC236}">
                <a16:creationId xmlns:a16="http://schemas.microsoft.com/office/drawing/2014/main" id="{A6E38341-CFBF-0802-D813-BC65FA436B02}"/>
              </a:ext>
            </a:extLst>
          </p:cNvPr>
          <p:cNvPicPr>
            <a:picLocks noChangeAspect="1"/>
          </p:cNvPicPr>
          <p:nvPr/>
        </p:nvPicPr>
        <p:blipFill>
          <a:blip r:embed="rId11"/>
          <a:stretch>
            <a:fillRect/>
          </a:stretch>
        </p:blipFill>
        <p:spPr>
          <a:xfrm>
            <a:off x="153940" y="4543057"/>
            <a:ext cx="1968500" cy="1562100"/>
          </a:xfrm>
          <a:prstGeom prst="rect">
            <a:avLst/>
          </a:prstGeom>
        </p:spPr>
      </p:pic>
      <p:pic>
        <p:nvPicPr>
          <p:cNvPr id="70" name="Picture 69">
            <a:extLst>
              <a:ext uri="{FF2B5EF4-FFF2-40B4-BE49-F238E27FC236}">
                <a16:creationId xmlns:a16="http://schemas.microsoft.com/office/drawing/2014/main" id="{8F948664-6873-90D3-1506-CB76CB0E4EFC}"/>
              </a:ext>
            </a:extLst>
          </p:cNvPr>
          <p:cNvPicPr>
            <a:picLocks noChangeAspect="1"/>
          </p:cNvPicPr>
          <p:nvPr/>
        </p:nvPicPr>
        <p:blipFill>
          <a:blip r:embed="rId12"/>
          <a:stretch>
            <a:fillRect/>
          </a:stretch>
        </p:blipFill>
        <p:spPr>
          <a:xfrm>
            <a:off x="153940" y="6025381"/>
            <a:ext cx="1968500" cy="1562100"/>
          </a:xfrm>
          <a:prstGeom prst="rect">
            <a:avLst/>
          </a:prstGeom>
        </p:spPr>
      </p:pic>
      <p:sp>
        <p:nvSpPr>
          <p:cNvPr id="90" name="TextBox 89">
            <a:extLst>
              <a:ext uri="{FF2B5EF4-FFF2-40B4-BE49-F238E27FC236}">
                <a16:creationId xmlns:a16="http://schemas.microsoft.com/office/drawing/2014/main" id="{26547636-C537-E534-5347-ED46FFAC7F5B}"/>
              </a:ext>
            </a:extLst>
          </p:cNvPr>
          <p:cNvSpPr txBox="1"/>
          <p:nvPr/>
        </p:nvSpPr>
        <p:spPr>
          <a:xfrm>
            <a:off x="2931200" y="57623"/>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Female</a:t>
            </a:r>
          </a:p>
        </p:txBody>
      </p:sp>
      <p:sp>
        <p:nvSpPr>
          <p:cNvPr id="91" name="TextBox 90">
            <a:extLst>
              <a:ext uri="{FF2B5EF4-FFF2-40B4-BE49-F238E27FC236}">
                <a16:creationId xmlns:a16="http://schemas.microsoft.com/office/drawing/2014/main" id="{624F6F37-DAA8-7FEE-5FC6-60864B6EE211}"/>
              </a:ext>
            </a:extLst>
          </p:cNvPr>
          <p:cNvSpPr txBox="1"/>
          <p:nvPr/>
        </p:nvSpPr>
        <p:spPr>
          <a:xfrm>
            <a:off x="1511065" y="-370287"/>
            <a:ext cx="1224316" cy="369332"/>
          </a:xfrm>
          <a:prstGeom prst="rect">
            <a:avLst/>
          </a:prstGeom>
          <a:noFill/>
        </p:spPr>
        <p:txBody>
          <a:bodyPr wrap="square" rtlCol="0">
            <a:spAutoFit/>
          </a:bodyPr>
          <a:lstStyle/>
          <a:p>
            <a:r>
              <a:rPr lang="en-US" dirty="0"/>
              <a:t>SMC</a:t>
            </a:r>
          </a:p>
        </p:txBody>
      </p:sp>
      <p:pic>
        <p:nvPicPr>
          <p:cNvPr id="92" name="Picture 2">
            <a:extLst>
              <a:ext uri="{FF2B5EF4-FFF2-40B4-BE49-F238E27FC236}">
                <a16:creationId xmlns:a16="http://schemas.microsoft.com/office/drawing/2014/main" id="{2ACD3478-3DBE-0E68-7ECA-074AE912F57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19325" y="7684020"/>
            <a:ext cx="1889296" cy="1524841"/>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4">
            <a:extLst>
              <a:ext uri="{FF2B5EF4-FFF2-40B4-BE49-F238E27FC236}">
                <a16:creationId xmlns:a16="http://schemas.microsoft.com/office/drawing/2014/main" id="{5581FE12-D8DC-8A39-6F6B-9B7C26E5330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9369" y="7684020"/>
            <a:ext cx="1968500" cy="1533810"/>
          </a:xfrm>
          <a:prstGeom prst="rect">
            <a:avLst/>
          </a:prstGeom>
          <a:noFill/>
          <a:extLst>
            <a:ext uri="{909E8E84-426E-40DD-AFC4-6F175D3DCCD1}">
              <a14:hiddenFill xmlns:a14="http://schemas.microsoft.com/office/drawing/2010/main">
                <a:solidFill>
                  <a:srgbClr val="FFFFFF"/>
                </a:solidFill>
              </a14:hiddenFill>
            </a:ext>
          </a:extLst>
        </p:spPr>
      </p:pic>
      <p:sp>
        <p:nvSpPr>
          <p:cNvPr id="94" name="TextBox 93">
            <a:extLst>
              <a:ext uri="{FF2B5EF4-FFF2-40B4-BE49-F238E27FC236}">
                <a16:creationId xmlns:a16="http://schemas.microsoft.com/office/drawing/2014/main" id="{BB6F57AC-FCE1-1970-9196-4D2F48CC85A0}"/>
              </a:ext>
            </a:extLst>
          </p:cNvPr>
          <p:cNvSpPr txBox="1"/>
          <p:nvPr/>
        </p:nvSpPr>
        <p:spPr>
          <a:xfrm>
            <a:off x="79078" y="7528766"/>
            <a:ext cx="117475" cy="200055"/>
          </a:xfrm>
          <a:prstGeom prst="rect">
            <a:avLst/>
          </a:prstGeom>
          <a:noFill/>
        </p:spPr>
        <p:txBody>
          <a:bodyPr wrap="square" rtlCol="0">
            <a:spAutoFit/>
          </a:bodyPr>
          <a:lstStyle/>
          <a:p>
            <a:pPr algn="ctr"/>
            <a:r>
              <a:rPr lang="en-US" sz="700" b="1" dirty="0">
                <a:latin typeface="Arial" panose="020B0604020202020204" pitchFamily="34" charset="0"/>
                <a:cs typeface="Arial" panose="020B0604020202020204" pitchFamily="34" charset="0"/>
              </a:rPr>
              <a:t>b</a:t>
            </a:r>
          </a:p>
        </p:txBody>
      </p:sp>
      <p:sp>
        <p:nvSpPr>
          <p:cNvPr id="95" name="TextBox 94">
            <a:extLst>
              <a:ext uri="{FF2B5EF4-FFF2-40B4-BE49-F238E27FC236}">
                <a16:creationId xmlns:a16="http://schemas.microsoft.com/office/drawing/2014/main" id="{0D1F5F93-140F-27A3-7716-E838AE54F999}"/>
              </a:ext>
            </a:extLst>
          </p:cNvPr>
          <p:cNvSpPr txBox="1"/>
          <p:nvPr/>
        </p:nvSpPr>
        <p:spPr>
          <a:xfrm>
            <a:off x="2328854" y="7528765"/>
            <a:ext cx="117475" cy="200055"/>
          </a:xfrm>
          <a:prstGeom prst="rect">
            <a:avLst/>
          </a:prstGeom>
          <a:noFill/>
        </p:spPr>
        <p:txBody>
          <a:bodyPr wrap="square" rtlCol="0">
            <a:spAutoFit/>
          </a:bodyPr>
          <a:lstStyle/>
          <a:p>
            <a:pPr algn="ctr"/>
            <a:r>
              <a:rPr lang="en-US" sz="700" b="1" dirty="0">
                <a:latin typeface="Arial" panose="020B0604020202020204" pitchFamily="34" charset="0"/>
                <a:cs typeface="Arial" panose="020B0604020202020204" pitchFamily="34" charset="0"/>
              </a:rPr>
              <a:t>c</a:t>
            </a:r>
          </a:p>
        </p:txBody>
      </p:sp>
    </p:spTree>
    <p:extLst>
      <p:ext uri="{BB962C8B-B14F-4D97-AF65-F5344CB8AC3E}">
        <p14:creationId xmlns:p14="http://schemas.microsoft.com/office/powerpoint/2010/main" val="1840285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48ECF-CD28-712C-5460-5CCC0260AD11}"/>
              </a:ext>
            </a:extLst>
          </p:cNvPr>
          <p:cNvSpPr>
            <a:spLocks noGrp="1"/>
          </p:cNvSpPr>
          <p:nvPr>
            <p:ph type="title"/>
          </p:nvPr>
        </p:nvSpPr>
        <p:spPr>
          <a:xfrm>
            <a:off x="-3086232" y="4005730"/>
            <a:ext cx="4123174" cy="405540"/>
          </a:xfrm>
        </p:spPr>
        <p:txBody>
          <a:bodyPr>
            <a:normAutofit fontScale="90000"/>
          </a:bodyPr>
          <a:lstStyle/>
          <a:p>
            <a:r>
              <a:rPr lang="en-US" dirty="0"/>
              <a:t>macrophages</a:t>
            </a:r>
          </a:p>
        </p:txBody>
      </p:sp>
      <p:pic>
        <p:nvPicPr>
          <p:cNvPr id="5" name="Content Placeholder 4">
            <a:extLst>
              <a:ext uri="{FF2B5EF4-FFF2-40B4-BE49-F238E27FC236}">
                <a16:creationId xmlns:a16="http://schemas.microsoft.com/office/drawing/2014/main" id="{6F25BA52-253D-A099-B5F2-A494DA0B29E5}"/>
              </a:ext>
            </a:extLst>
          </p:cNvPr>
          <p:cNvPicPr>
            <a:picLocks noGrp="1" noChangeAspect="1"/>
          </p:cNvPicPr>
          <p:nvPr>
            <p:ph idx="1"/>
          </p:nvPr>
        </p:nvPicPr>
        <p:blipFill>
          <a:blip r:embed="rId2"/>
          <a:stretch>
            <a:fillRect/>
          </a:stretch>
        </p:blipFill>
        <p:spPr>
          <a:xfrm>
            <a:off x="238156" y="3427450"/>
            <a:ext cx="1968500" cy="1562100"/>
          </a:xfrm>
        </p:spPr>
      </p:pic>
      <p:pic>
        <p:nvPicPr>
          <p:cNvPr id="7" name="Picture 6">
            <a:extLst>
              <a:ext uri="{FF2B5EF4-FFF2-40B4-BE49-F238E27FC236}">
                <a16:creationId xmlns:a16="http://schemas.microsoft.com/office/drawing/2014/main" id="{3EAFCECD-51AA-0403-8431-79AB95BDECD2}"/>
              </a:ext>
            </a:extLst>
          </p:cNvPr>
          <p:cNvPicPr>
            <a:picLocks noChangeAspect="1"/>
          </p:cNvPicPr>
          <p:nvPr/>
        </p:nvPicPr>
        <p:blipFill>
          <a:blip r:embed="rId3"/>
          <a:stretch>
            <a:fillRect/>
          </a:stretch>
        </p:blipFill>
        <p:spPr>
          <a:xfrm>
            <a:off x="219106" y="4873092"/>
            <a:ext cx="2006600" cy="1562100"/>
          </a:xfrm>
          <a:prstGeom prst="rect">
            <a:avLst/>
          </a:prstGeom>
        </p:spPr>
      </p:pic>
      <p:sp>
        <p:nvSpPr>
          <p:cNvPr id="10" name="TextBox 9">
            <a:extLst>
              <a:ext uri="{FF2B5EF4-FFF2-40B4-BE49-F238E27FC236}">
                <a16:creationId xmlns:a16="http://schemas.microsoft.com/office/drawing/2014/main" id="{8F94A1D6-E40B-2FE8-0338-7253EAA28717}"/>
              </a:ext>
            </a:extLst>
          </p:cNvPr>
          <p:cNvSpPr txBox="1"/>
          <p:nvPr/>
        </p:nvSpPr>
        <p:spPr>
          <a:xfrm rot="16200000">
            <a:off x="-254192" y="3933031"/>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Cdkn1a</a:t>
            </a:r>
          </a:p>
        </p:txBody>
      </p:sp>
      <p:sp>
        <p:nvSpPr>
          <p:cNvPr id="11" name="TextBox 10">
            <a:extLst>
              <a:ext uri="{FF2B5EF4-FFF2-40B4-BE49-F238E27FC236}">
                <a16:creationId xmlns:a16="http://schemas.microsoft.com/office/drawing/2014/main" id="{A169FB29-0704-46A0-C2A1-AB6A42C5A48C}"/>
              </a:ext>
            </a:extLst>
          </p:cNvPr>
          <p:cNvSpPr txBox="1"/>
          <p:nvPr/>
        </p:nvSpPr>
        <p:spPr>
          <a:xfrm rot="16200000">
            <a:off x="-254193" y="5127285"/>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Ccr2</a:t>
            </a:r>
          </a:p>
        </p:txBody>
      </p:sp>
      <p:pic>
        <p:nvPicPr>
          <p:cNvPr id="14" name="Picture 13">
            <a:extLst>
              <a:ext uri="{FF2B5EF4-FFF2-40B4-BE49-F238E27FC236}">
                <a16:creationId xmlns:a16="http://schemas.microsoft.com/office/drawing/2014/main" id="{88C2FC6C-8128-1023-0069-6D47CDBBDB11}"/>
              </a:ext>
            </a:extLst>
          </p:cNvPr>
          <p:cNvPicPr>
            <a:picLocks noChangeAspect="1"/>
          </p:cNvPicPr>
          <p:nvPr/>
        </p:nvPicPr>
        <p:blipFill>
          <a:blip r:embed="rId4"/>
          <a:stretch>
            <a:fillRect/>
          </a:stretch>
        </p:blipFill>
        <p:spPr>
          <a:xfrm>
            <a:off x="2244756" y="3427450"/>
            <a:ext cx="2006600" cy="1562100"/>
          </a:xfrm>
          <a:prstGeom prst="rect">
            <a:avLst/>
          </a:prstGeom>
        </p:spPr>
      </p:pic>
      <p:pic>
        <p:nvPicPr>
          <p:cNvPr id="16" name="Picture 15">
            <a:extLst>
              <a:ext uri="{FF2B5EF4-FFF2-40B4-BE49-F238E27FC236}">
                <a16:creationId xmlns:a16="http://schemas.microsoft.com/office/drawing/2014/main" id="{3FCF15B3-82AD-65FB-36A0-0F57281B37C0}"/>
              </a:ext>
            </a:extLst>
          </p:cNvPr>
          <p:cNvPicPr>
            <a:picLocks noChangeAspect="1"/>
          </p:cNvPicPr>
          <p:nvPr/>
        </p:nvPicPr>
        <p:blipFill>
          <a:blip r:embed="rId5"/>
          <a:stretch>
            <a:fillRect/>
          </a:stretch>
        </p:blipFill>
        <p:spPr>
          <a:xfrm>
            <a:off x="2244756" y="4871492"/>
            <a:ext cx="2006600" cy="1562100"/>
          </a:xfrm>
          <a:prstGeom prst="rect">
            <a:avLst/>
          </a:prstGeom>
        </p:spPr>
      </p:pic>
      <p:sp>
        <p:nvSpPr>
          <p:cNvPr id="19" name="TextBox 18">
            <a:extLst>
              <a:ext uri="{FF2B5EF4-FFF2-40B4-BE49-F238E27FC236}">
                <a16:creationId xmlns:a16="http://schemas.microsoft.com/office/drawing/2014/main" id="{A15D13A7-B1BF-9B83-DD33-068D33DBBC75}"/>
              </a:ext>
            </a:extLst>
          </p:cNvPr>
          <p:cNvSpPr txBox="1"/>
          <p:nvPr/>
        </p:nvSpPr>
        <p:spPr>
          <a:xfrm>
            <a:off x="1206070" y="3325320"/>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Male</a:t>
            </a:r>
          </a:p>
        </p:txBody>
      </p:sp>
      <p:sp>
        <p:nvSpPr>
          <p:cNvPr id="20" name="TextBox 19">
            <a:extLst>
              <a:ext uri="{FF2B5EF4-FFF2-40B4-BE49-F238E27FC236}">
                <a16:creationId xmlns:a16="http://schemas.microsoft.com/office/drawing/2014/main" id="{FBC7C2E5-6385-2C0A-0BD6-93827BDF26C9}"/>
              </a:ext>
            </a:extLst>
          </p:cNvPr>
          <p:cNvSpPr txBox="1"/>
          <p:nvPr/>
        </p:nvSpPr>
        <p:spPr>
          <a:xfrm>
            <a:off x="3121665" y="3327422"/>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Female</a:t>
            </a:r>
          </a:p>
        </p:txBody>
      </p:sp>
      <p:pic>
        <p:nvPicPr>
          <p:cNvPr id="21" name="Picture 20">
            <a:extLst>
              <a:ext uri="{FF2B5EF4-FFF2-40B4-BE49-F238E27FC236}">
                <a16:creationId xmlns:a16="http://schemas.microsoft.com/office/drawing/2014/main" id="{81FD1FA9-9C0B-8CDC-77CB-DB4D60D09DDC}"/>
              </a:ext>
            </a:extLst>
          </p:cNvPr>
          <p:cNvPicPr>
            <a:picLocks noChangeAspect="1"/>
          </p:cNvPicPr>
          <p:nvPr/>
        </p:nvPicPr>
        <p:blipFill>
          <a:blip r:embed="rId6"/>
          <a:stretch>
            <a:fillRect/>
          </a:stretch>
        </p:blipFill>
        <p:spPr>
          <a:xfrm>
            <a:off x="307638" y="310867"/>
            <a:ext cx="1968500" cy="1562100"/>
          </a:xfrm>
          <a:prstGeom prst="rect">
            <a:avLst/>
          </a:prstGeom>
        </p:spPr>
      </p:pic>
      <p:pic>
        <p:nvPicPr>
          <p:cNvPr id="22" name="Picture 21">
            <a:extLst>
              <a:ext uri="{FF2B5EF4-FFF2-40B4-BE49-F238E27FC236}">
                <a16:creationId xmlns:a16="http://schemas.microsoft.com/office/drawing/2014/main" id="{24BD90B6-5857-2C42-6CF9-DCDF25FA23F0}"/>
              </a:ext>
            </a:extLst>
          </p:cNvPr>
          <p:cNvPicPr>
            <a:picLocks noChangeAspect="1"/>
          </p:cNvPicPr>
          <p:nvPr/>
        </p:nvPicPr>
        <p:blipFill>
          <a:blip r:embed="rId7"/>
          <a:stretch>
            <a:fillRect/>
          </a:stretch>
        </p:blipFill>
        <p:spPr>
          <a:xfrm>
            <a:off x="2153588" y="265318"/>
            <a:ext cx="1968500" cy="1574800"/>
          </a:xfrm>
          <a:prstGeom prst="rect">
            <a:avLst/>
          </a:prstGeom>
        </p:spPr>
      </p:pic>
      <p:sp>
        <p:nvSpPr>
          <p:cNvPr id="23" name="TextBox 22">
            <a:extLst>
              <a:ext uri="{FF2B5EF4-FFF2-40B4-BE49-F238E27FC236}">
                <a16:creationId xmlns:a16="http://schemas.microsoft.com/office/drawing/2014/main" id="{F9FA0B95-6185-B485-56E5-D403444E7D91}"/>
              </a:ext>
            </a:extLst>
          </p:cNvPr>
          <p:cNvSpPr txBox="1"/>
          <p:nvPr/>
        </p:nvSpPr>
        <p:spPr>
          <a:xfrm rot="16200000">
            <a:off x="-146611" y="769577"/>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Serpine1</a:t>
            </a:r>
          </a:p>
        </p:txBody>
      </p:sp>
      <p:pic>
        <p:nvPicPr>
          <p:cNvPr id="24" name="Picture 23">
            <a:extLst>
              <a:ext uri="{FF2B5EF4-FFF2-40B4-BE49-F238E27FC236}">
                <a16:creationId xmlns:a16="http://schemas.microsoft.com/office/drawing/2014/main" id="{6369ADF7-64D8-9D54-3428-9A972F8E9B9D}"/>
              </a:ext>
            </a:extLst>
          </p:cNvPr>
          <p:cNvPicPr>
            <a:picLocks noChangeAspect="1"/>
          </p:cNvPicPr>
          <p:nvPr/>
        </p:nvPicPr>
        <p:blipFill>
          <a:blip r:embed="rId8"/>
          <a:stretch>
            <a:fillRect/>
          </a:stretch>
        </p:blipFill>
        <p:spPr>
          <a:xfrm>
            <a:off x="2153588" y="1698093"/>
            <a:ext cx="1968500" cy="1562100"/>
          </a:xfrm>
          <a:prstGeom prst="rect">
            <a:avLst/>
          </a:prstGeom>
        </p:spPr>
      </p:pic>
      <p:pic>
        <p:nvPicPr>
          <p:cNvPr id="25" name="Picture 24">
            <a:extLst>
              <a:ext uri="{FF2B5EF4-FFF2-40B4-BE49-F238E27FC236}">
                <a16:creationId xmlns:a16="http://schemas.microsoft.com/office/drawing/2014/main" id="{6785673B-D7EF-BE9E-9979-F271894A96EE}"/>
              </a:ext>
            </a:extLst>
          </p:cNvPr>
          <p:cNvPicPr>
            <a:picLocks noChangeAspect="1"/>
          </p:cNvPicPr>
          <p:nvPr/>
        </p:nvPicPr>
        <p:blipFill>
          <a:blip r:embed="rId9"/>
          <a:stretch>
            <a:fillRect/>
          </a:stretch>
        </p:blipFill>
        <p:spPr>
          <a:xfrm>
            <a:off x="307638" y="1698093"/>
            <a:ext cx="1968500" cy="1562100"/>
          </a:xfrm>
          <a:prstGeom prst="rect">
            <a:avLst/>
          </a:prstGeom>
        </p:spPr>
      </p:pic>
      <p:sp>
        <p:nvSpPr>
          <p:cNvPr id="26" name="TextBox 25">
            <a:extLst>
              <a:ext uri="{FF2B5EF4-FFF2-40B4-BE49-F238E27FC236}">
                <a16:creationId xmlns:a16="http://schemas.microsoft.com/office/drawing/2014/main" id="{7F3B7DED-0367-6E21-4E40-3BA7D3331B3C}"/>
              </a:ext>
            </a:extLst>
          </p:cNvPr>
          <p:cNvSpPr txBox="1"/>
          <p:nvPr/>
        </p:nvSpPr>
        <p:spPr>
          <a:xfrm>
            <a:off x="-2484918" y="854493"/>
            <a:ext cx="2077345" cy="369332"/>
          </a:xfrm>
          <a:prstGeom prst="rect">
            <a:avLst/>
          </a:prstGeom>
          <a:noFill/>
        </p:spPr>
        <p:txBody>
          <a:bodyPr wrap="square" rtlCol="0">
            <a:spAutoFit/>
          </a:bodyPr>
          <a:lstStyle/>
          <a:p>
            <a:r>
              <a:rPr lang="en-US" dirty="0"/>
              <a:t>Ascending SMC</a:t>
            </a:r>
          </a:p>
        </p:txBody>
      </p:sp>
      <p:sp>
        <p:nvSpPr>
          <p:cNvPr id="27" name="TextBox 26">
            <a:extLst>
              <a:ext uri="{FF2B5EF4-FFF2-40B4-BE49-F238E27FC236}">
                <a16:creationId xmlns:a16="http://schemas.microsoft.com/office/drawing/2014/main" id="{9EEB816D-CFFE-E5BC-692C-56DDF24DC49F}"/>
              </a:ext>
            </a:extLst>
          </p:cNvPr>
          <p:cNvSpPr txBox="1"/>
          <p:nvPr/>
        </p:nvSpPr>
        <p:spPr>
          <a:xfrm rot="16200000">
            <a:off x="34778" y="2304057"/>
            <a:ext cx="345664"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Ace</a:t>
            </a:r>
          </a:p>
        </p:txBody>
      </p:sp>
      <p:sp>
        <p:nvSpPr>
          <p:cNvPr id="28" name="TextBox 27">
            <a:extLst>
              <a:ext uri="{FF2B5EF4-FFF2-40B4-BE49-F238E27FC236}">
                <a16:creationId xmlns:a16="http://schemas.microsoft.com/office/drawing/2014/main" id="{B68C6642-3981-ABF8-4E6D-61D0326C54AE}"/>
              </a:ext>
            </a:extLst>
          </p:cNvPr>
          <p:cNvSpPr txBox="1"/>
          <p:nvPr/>
        </p:nvSpPr>
        <p:spPr>
          <a:xfrm>
            <a:off x="152492" y="266671"/>
            <a:ext cx="117475" cy="200055"/>
          </a:xfrm>
          <a:prstGeom prst="rect">
            <a:avLst/>
          </a:prstGeom>
          <a:noFill/>
        </p:spPr>
        <p:txBody>
          <a:bodyPr wrap="square" rtlCol="0">
            <a:spAutoFit/>
          </a:bodyPr>
          <a:lstStyle/>
          <a:p>
            <a:pPr algn="ctr"/>
            <a:r>
              <a:rPr lang="en-US" sz="700" b="1" dirty="0">
                <a:latin typeface="Arial" panose="020B0604020202020204" pitchFamily="34" charset="0"/>
                <a:cs typeface="Arial" panose="020B0604020202020204" pitchFamily="34" charset="0"/>
              </a:rPr>
              <a:t>a</a:t>
            </a:r>
          </a:p>
        </p:txBody>
      </p:sp>
      <p:sp>
        <p:nvSpPr>
          <p:cNvPr id="33" name="TextBox 32">
            <a:extLst>
              <a:ext uri="{FF2B5EF4-FFF2-40B4-BE49-F238E27FC236}">
                <a16:creationId xmlns:a16="http://schemas.microsoft.com/office/drawing/2014/main" id="{5B230DD2-2A38-FE9A-3E6A-A0016B26C7F3}"/>
              </a:ext>
            </a:extLst>
          </p:cNvPr>
          <p:cNvSpPr txBox="1"/>
          <p:nvPr/>
        </p:nvSpPr>
        <p:spPr>
          <a:xfrm>
            <a:off x="120681" y="3325320"/>
            <a:ext cx="117475" cy="200055"/>
          </a:xfrm>
          <a:prstGeom prst="rect">
            <a:avLst/>
          </a:prstGeom>
          <a:noFill/>
        </p:spPr>
        <p:txBody>
          <a:bodyPr wrap="square" rtlCol="0">
            <a:spAutoFit/>
          </a:bodyPr>
          <a:lstStyle/>
          <a:p>
            <a:pPr algn="ctr"/>
            <a:r>
              <a:rPr lang="en-US" sz="700" b="1" dirty="0">
                <a:latin typeface="Arial" panose="020B0604020202020204" pitchFamily="34" charset="0"/>
                <a:cs typeface="Arial" panose="020B0604020202020204" pitchFamily="34" charset="0"/>
              </a:rPr>
              <a:t>b</a:t>
            </a:r>
          </a:p>
        </p:txBody>
      </p:sp>
      <p:sp>
        <p:nvSpPr>
          <p:cNvPr id="34" name="TextBox 33">
            <a:extLst>
              <a:ext uri="{FF2B5EF4-FFF2-40B4-BE49-F238E27FC236}">
                <a16:creationId xmlns:a16="http://schemas.microsoft.com/office/drawing/2014/main" id="{9FDCADBF-1C63-9231-5303-B91431A796EF}"/>
              </a:ext>
            </a:extLst>
          </p:cNvPr>
          <p:cNvSpPr txBox="1"/>
          <p:nvPr/>
        </p:nvSpPr>
        <p:spPr>
          <a:xfrm>
            <a:off x="1172930" y="139713"/>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Male</a:t>
            </a:r>
          </a:p>
        </p:txBody>
      </p:sp>
      <p:sp>
        <p:nvSpPr>
          <p:cNvPr id="35" name="TextBox 34">
            <a:extLst>
              <a:ext uri="{FF2B5EF4-FFF2-40B4-BE49-F238E27FC236}">
                <a16:creationId xmlns:a16="http://schemas.microsoft.com/office/drawing/2014/main" id="{433DD130-FA1A-3956-2FC0-CD5246118308}"/>
              </a:ext>
            </a:extLst>
          </p:cNvPr>
          <p:cNvSpPr txBox="1"/>
          <p:nvPr/>
        </p:nvSpPr>
        <p:spPr>
          <a:xfrm>
            <a:off x="3088525" y="141815"/>
            <a:ext cx="708441" cy="200055"/>
          </a:xfrm>
          <a:prstGeom prst="rect">
            <a:avLst/>
          </a:prstGeom>
          <a:noFill/>
        </p:spPr>
        <p:txBody>
          <a:bodyPr wrap="square" rtlCol="0">
            <a:spAutoFit/>
          </a:bodyPr>
          <a:lstStyle/>
          <a:p>
            <a:r>
              <a:rPr lang="en-US" sz="700" u="sng" dirty="0">
                <a:latin typeface="Arial" panose="020B0604020202020204" pitchFamily="34" charset="0"/>
                <a:cs typeface="Arial" panose="020B0604020202020204" pitchFamily="34" charset="0"/>
              </a:rPr>
              <a:t>Female</a:t>
            </a:r>
          </a:p>
        </p:txBody>
      </p:sp>
    </p:spTree>
    <p:extLst>
      <p:ext uri="{BB962C8B-B14F-4D97-AF65-F5344CB8AC3E}">
        <p14:creationId xmlns:p14="http://schemas.microsoft.com/office/powerpoint/2010/main" val="1953497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FA27A-C986-FBF2-1B89-DC3BC94301FE}"/>
              </a:ext>
            </a:extLst>
          </p:cNvPr>
          <p:cNvSpPr>
            <a:spLocks noGrp="1"/>
          </p:cNvSpPr>
          <p:nvPr>
            <p:ph type="title"/>
          </p:nvPr>
        </p:nvSpPr>
        <p:spPr/>
        <p:txBody>
          <a:bodyPr/>
          <a:lstStyle/>
          <a:p>
            <a:r>
              <a:rPr lang="en-US" dirty="0"/>
              <a:t>“Feminization” analysis of KO’s – make this a supp fig</a:t>
            </a:r>
          </a:p>
        </p:txBody>
      </p:sp>
      <p:pic>
        <p:nvPicPr>
          <p:cNvPr id="1026" name="Picture 2">
            <a:extLst>
              <a:ext uri="{FF2B5EF4-FFF2-40B4-BE49-F238E27FC236}">
                <a16:creationId xmlns:a16="http://schemas.microsoft.com/office/drawing/2014/main" id="{37B9875E-587B-4367-77D7-1F5A9A3735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9902" y="4060855"/>
            <a:ext cx="1889296" cy="15248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816D194-A0BF-6DE1-AB1D-7D7BE20FA8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946" y="4060855"/>
            <a:ext cx="1968500" cy="15338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CC755EE-52AB-6BE6-9A35-5CDFD2383FF0}"/>
              </a:ext>
            </a:extLst>
          </p:cNvPr>
          <p:cNvSpPr txBox="1"/>
          <p:nvPr/>
        </p:nvSpPr>
        <p:spPr>
          <a:xfrm>
            <a:off x="4267200" y="3024758"/>
            <a:ext cx="2560320" cy="461665"/>
          </a:xfrm>
          <a:prstGeom prst="rect">
            <a:avLst/>
          </a:prstGeom>
          <a:noFill/>
        </p:spPr>
        <p:txBody>
          <a:bodyPr wrap="square" rtlCol="0">
            <a:spAutoFit/>
          </a:bodyPr>
          <a:lstStyle/>
          <a:p>
            <a:r>
              <a:rPr lang="en-US" sz="1200" dirty="0"/>
              <a:t>Log10 BF thresh: 100</a:t>
            </a:r>
          </a:p>
          <a:p>
            <a:r>
              <a:rPr lang="en-US" sz="1200" dirty="0"/>
              <a:t>Frac genes more likely in KO: 0.7158</a:t>
            </a:r>
          </a:p>
        </p:txBody>
      </p:sp>
      <p:sp>
        <p:nvSpPr>
          <p:cNvPr id="6" name="TextBox 5">
            <a:extLst>
              <a:ext uri="{FF2B5EF4-FFF2-40B4-BE49-F238E27FC236}">
                <a16:creationId xmlns:a16="http://schemas.microsoft.com/office/drawing/2014/main" id="{BCE47F5D-9AF8-BEF3-A0DD-EE16D7704AC2}"/>
              </a:ext>
            </a:extLst>
          </p:cNvPr>
          <p:cNvSpPr txBox="1"/>
          <p:nvPr/>
        </p:nvSpPr>
        <p:spPr>
          <a:xfrm>
            <a:off x="611402" y="3860800"/>
            <a:ext cx="117475" cy="200055"/>
          </a:xfrm>
          <a:prstGeom prst="rect">
            <a:avLst/>
          </a:prstGeom>
          <a:noFill/>
        </p:spPr>
        <p:txBody>
          <a:bodyPr wrap="square" rtlCol="0">
            <a:spAutoFit/>
          </a:bodyPr>
          <a:lstStyle/>
          <a:p>
            <a:pPr algn="ctr"/>
            <a:r>
              <a:rPr lang="en-US" sz="700" b="1" dirty="0">
                <a:latin typeface="Arial" panose="020B0604020202020204" pitchFamily="34" charset="0"/>
                <a:cs typeface="Arial" panose="020B0604020202020204" pitchFamily="34" charset="0"/>
              </a:rPr>
              <a:t>a</a:t>
            </a:r>
          </a:p>
        </p:txBody>
      </p:sp>
      <p:sp>
        <p:nvSpPr>
          <p:cNvPr id="8" name="TextBox 7">
            <a:extLst>
              <a:ext uri="{FF2B5EF4-FFF2-40B4-BE49-F238E27FC236}">
                <a16:creationId xmlns:a16="http://schemas.microsoft.com/office/drawing/2014/main" id="{C553C030-2D2E-D495-3140-EE13BAF2F088}"/>
              </a:ext>
            </a:extLst>
          </p:cNvPr>
          <p:cNvSpPr txBox="1"/>
          <p:nvPr/>
        </p:nvSpPr>
        <p:spPr>
          <a:xfrm>
            <a:off x="2792797" y="3860799"/>
            <a:ext cx="117475" cy="200055"/>
          </a:xfrm>
          <a:prstGeom prst="rect">
            <a:avLst/>
          </a:prstGeom>
          <a:noFill/>
        </p:spPr>
        <p:txBody>
          <a:bodyPr wrap="square" rtlCol="0">
            <a:spAutoFit/>
          </a:bodyPr>
          <a:lstStyle/>
          <a:p>
            <a:pPr algn="ctr"/>
            <a:r>
              <a:rPr lang="en-US" sz="700" b="1" dirty="0">
                <a:latin typeface="Arial" panose="020B0604020202020204" pitchFamily="34" charset="0"/>
                <a:cs typeface="Arial" panose="020B0604020202020204" pitchFamily="34" charset="0"/>
              </a:rPr>
              <a:t>b</a:t>
            </a:r>
          </a:p>
        </p:txBody>
      </p:sp>
      <p:sp>
        <p:nvSpPr>
          <p:cNvPr id="9" name="TextBox 8">
            <a:extLst>
              <a:ext uri="{FF2B5EF4-FFF2-40B4-BE49-F238E27FC236}">
                <a16:creationId xmlns:a16="http://schemas.microsoft.com/office/drawing/2014/main" id="{8B54FAD5-4027-EA20-DB1D-0B9D144CCD18}"/>
              </a:ext>
            </a:extLst>
          </p:cNvPr>
          <p:cNvSpPr txBox="1"/>
          <p:nvPr/>
        </p:nvSpPr>
        <p:spPr>
          <a:xfrm>
            <a:off x="728877" y="6099142"/>
            <a:ext cx="2787321" cy="369332"/>
          </a:xfrm>
          <a:prstGeom prst="rect">
            <a:avLst/>
          </a:prstGeom>
          <a:noFill/>
        </p:spPr>
        <p:txBody>
          <a:bodyPr wrap="square" rtlCol="0">
            <a:spAutoFit/>
          </a:bodyPr>
          <a:lstStyle/>
          <a:p>
            <a:r>
              <a:rPr lang="en-US" u="sng" dirty="0"/>
              <a:t>Figure caption</a:t>
            </a:r>
          </a:p>
        </p:txBody>
      </p:sp>
      <p:sp>
        <p:nvSpPr>
          <p:cNvPr id="10" name="TextBox 9">
            <a:extLst>
              <a:ext uri="{FF2B5EF4-FFF2-40B4-BE49-F238E27FC236}">
                <a16:creationId xmlns:a16="http://schemas.microsoft.com/office/drawing/2014/main" id="{75BAE641-113F-22D7-4DD7-A140DE4B5AE8}"/>
              </a:ext>
            </a:extLst>
          </p:cNvPr>
          <p:cNvSpPr txBox="1"/>
          <p:nvPr/>
        </p:nvSpPr>
        <p:spPr>
          <a:xfrm>
            <a:off x="820132" y="6551629"/>
            <a:ext cx="3649066" cy="2492990"/>
          </a:xfrm>
          <a:prstGeom prst="rect">
            <a:avLst/>
          </a:prstGeom>
          <a:noFill/>
        </p:spPr>
        <p:txBody>
          <a:bodyPr wrap="square" rtlCol="0">
            <a:spAutoFit/>
          </a:bodyPr>
          <a:lstStyle/>
          <a:p>
            <a:r>
              <a:rPr lang="en-US" sz="1200" dirty="0"/>
              <a:t>Supplementary Figure {XXX}: Assessing similarity between confident cycling gene expression in males and females, in the </a:t>
            </a:r>
            <a:r>
              <a:rPr lang="en-US" sz="1200" i="1" dirty="0"/>
              <a:t>Bmal1 </a:t>
            </a:r>
            <a:r>
              <a:rPr lang="en-US" sz="1200" dirty="0"/>
              <a:t>WT and KO SMCs. </a:t>
            </a:r>
            <a:r>
              <a:rPr lang="en-US" sz="1200" b="1" dirty="0"/>
              <a:t>a) </a:t>
            </a:r>
            <a:r>
              <a:rPr lang="en-US" sz="1200" dirty="0"/>
              <a:t>Posterior likelihood of female WT posterior samples in male posterior WT distributions, using the union of confident cycling (log10 bayes factor threshold of 100) genes in the male and female WT (X-axis) vs. posterior likelihood of female KO posterior samples in male posterior KO distributions (y-axis). </a:t>
            </a:r>
            <a:r>
              <a:rPr lang="en-US" sz="1200" b="1" dirty="0"/>
              <a:t>b) </a:t>
            </a:r>
            <a:r>
              <a:rPr lang="en-US" sz="1200" dirty="0"/>
              <a:t>The fraction of confident cycling genes with more similar likelihood between the sexes in the KO conditions over the WT conditions, at various log10 bayes factor thresholds used to call confident circadian cyclers.</a:t>
            </a:r>
          </a:p>
        </p:txBody>
      </p:sp>
    </p:spTree>
    <p:extLst>
      <p:ext uri="{BB962C8B-B14F-4D97-AF65-F5344CB8AC3E}">
        <p14:creationId xmlns:p14="http://schemas.microsoft.com/office/powerpoint/2010/main" val="783073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7C4928-7E5A-11D1-EED0-F630693D169A}"/>
              </a:ext>
            </a:extLst>
          </p:cNvPr>
          <p:cNvPicPr>
            <a:picLocks noChangeAspect="1"/>
          </p:cNvPicPr>
          <p:nvPr/>
        </p:nvPicPr>
        <p:blipFill>
          <a:blip r:embed="rId2"/>
          <a:stretch>
            <a:fillRect/>
          </a:stretch>
        </p:blipFill>
        <p:spPr>
          <a:xfrm>
            <a:off x="1945735" y="657215"/>
            <a:ext cx="2006600" cy="1562100"/>
          </a:xfrm>
          <a:prstGeom prst="rect">
            <a:avLst/>
          </a:prstGeom>
        </p:spPr>
      </p:pic>
      <p:pic>
        <p:nvPicPr>
          <p:cNvPr id="5" name="Picture 4">
            <a:extLst>
              <a:ext uri="{FF2B5EF4-FFF2-40B4-BE49-F238E27FC236}">
                <a16:creationId xmlns:a16="http://schemas.microsoft.com/office/drawing/2014/main" id="{06DECA34-1D82-87A9-CFE4-FFB5696B267C}"/>
              </a:ext>
            </a:extLst>
          </p:cNvPr>
          <p:cNvPicPr>
            <a:picLocks noChangeAspect="1"/>
          </p:cNvPicPr>
          <p:nvPr/>
        </p:nvPicPr>
        <p:blipFill>
          <a:blip r:embed="rId3"/>
          <a:stretch>
            <a:fillRect/>
          </a:stretch>
        </p:blipFill>
        <p:spPr>
          <a:xfrm>
            <a:off x="0" y="613679"/>
            <a:ext cx="1968500" cy="1562100"/>
          </a:xfrm>
          <a:prstGeom prst="rect">
            <a:avLst/>
          </a:prstGeom>
        </p:spPr>
      </p:pic>
      <p:sp>
        <p:nvSpPr>
          <p:cNvPr id="6" name="TextBox 5">
            <a:extLst>
              <a:ext uri="{FF2B5EF4-FFF2-40B4-BE49-F238E27FC236}">
                <a16:creationId xmlns:a16="http://schemas.microsoft.com/office/drawing/2014/main" id="{BB8F4185-FC7A-E2B0-4740-9DE453869E8E}"/>
              </a:ext>
            </a:extLst>
          </p:cNvPr>
          <p:cNvSpPr txBox="1"/>
          <p:nvPr/>
        </p:nvSpPr>
        <p:spPr>
          <a:xfrm>
            <a:off x="-720570" y="1130488"/>
            <a:ext cx="708441" cy="200055"/>
          </a:xfrm>
          <a:prstGeom prst="rect">
            <a:avLst/>
          </a:prstGeom>
          <a:noFill/>
        </p:spPr>
        <p:txBody>
          <a:bodyPr wrap="square" rtlCol="0">
            <a:spAutoFit/>
          </a:bodyPr>
          <a:lstStyle/>
          <a:p>
            <a:r>
              <a:rPr lang="en-US" sz="700" dirty="0">
                <a:latin typeface="Arial" panose="020B0604020202020204" pitchFamily="34" charset="0"/>
                <a:cs typeface="Arial" panose="020B0604020202020204" pitchFamily="34" charset="0"/>
              </a:rPr>
              <a:t>Hspa1b</a:t>
            </a:r>
          </a:p>
        </p:txBody>
      </p:sp>
      <p:sp>
        <p:nvSpPr>
          <p:cNvPr id="7" name="TextBox 6">
            <a:extLst>
              <a:ext uri="{FF2B5EF4-FFF2-40B4-BE49-F238E27FC236}">
                <a16:creationId xmlns:a16="http://schemas.microsoft.com/office/drawing/2014/main" id="{7EDD540D-BB49-09C8-C568-A77A43F8262A}"/>
              </a:ext>
            </a:extLst>
          </p:cNvPr>
          <p:cNvSpPr txBox="1"/>
          <p:nvPr/>
        </p:nvSpPr>
        <p:spPr>
          <a:xfrm>
            <a:off x="360238" y="81449"/>
            <a:ext cx="2006600" cy="369332"/>
          </a:xfrm>
          <a:prstGeom prst="rect">
            <a:avLst/>
          </a:prstGeom>
          <a:noFill/>
        </p:spPr>
        <p:txBody>
          <a:bodyPr wrap="square" rtlCol="0">
            <a:spAutoFit/>
          </a:bodyPr>
          <a:lstStyle/>
          <a:p>
            <a:r>
              <a:rPr lang="en-US" dirty="0"/>
              <a:t>Male SMC</a:t>
            </a:r>
          </a:p>
        </p:txBody>
      </p:sp>
      <p:sp>
        <p:nvSpPr>
          <p:cNvPr id="8" name="TextBox 7">
            <a:extLst>
              <a:ext uri="{FF2B5EF4-FFF2-40B4-BE49-F238E27FC236}">
                <a16:creationId xmlns:a16="http://schemas.microsoft.com/office/drawing/2014/main" id="{1BA25A2D-E3D0-E4AE-8F9D-2EF8EBD0A061}"/>
              </a:ext>
            </a:extLst>
          </p:cNvPr>
          <p:cNvSpPr txBox="1"/>
          <p:nvPr/>
        </p:nvSpPr>
        <p:spPr>
          <a:xfrm>
            <a:off x="2421190" y="0"/>
            <a:ext cx="2006600" cy="369332"/>
          </a:xfrm>
          <a:prstGeom prst="rect">
            <a:avLst/>
          </a:prstGeom>
          <a:noFill/>
        </p:spPr>
        <p:txBody>
          <a:bodyPr wrap="square" rtlCol="0">
            <a:spAutoFit/>
          </a:bodyPr>
          <a:lstStyle/>
          <a:p>
            <a:r>
              <a:rPr lang="en-US" dirty="0"/>
              <a:t>Female SMC</a:t>
            </a:r>
          </a:p>
        </p:txBody>
      </p:sp>
      <p:sp>
        <p:nvSpPr>
          <p:cNvPr id="9" name="TextBox 8">
            <a:extLst>
              <a:ext uri="{FF2B5EF4-FFF2-40B4-BE49-F238E27FC236}">
                <a16:creationId xmlns:a16="http://schemas.microsoft.com/office/drawing/2014/main" id="{1EFB201D-E8B4-EB35-227F-77F9C31641D0}"/>
              </a:ext>
            </a:extLst>
          </p:cNvPr>
          <p:cNvSpPr txBox="1"/>
          <p:nvPr/>
        </p:nvSpPr>
        <p:spPr>
          <a:xfrm>
            <a:off x="-174624" y="2622920"/>
            <a:ext cx="117475" cy="200055"/>
          </a:xfrm>
          <a:prstGeom prst="rect">
            <a:avLst/>
          </a:prstGeom>
          <a:noFill/>
        </p:spPr>
        <p:txBody>
          <a:bodyPr wrap="square" rtlCol="0">
            <a:spAutoFit/>
          </a:bodyPr>
          <a:lstStyle/>
          <a:p>
            <a:pPr algn="ctr"/>
            <a:r>
              <a:rPr lang="en-US" sz="700" b="1" dirty="0">
                <a:latin typeface="Arial" panose="020B0604020202020204" pitchFamily="34" charset="0"/>
                <a:cs typeface="Arial" panose="020B0604020202020204" pitchFamily="34" charset="0"/>
              </a:rPr>
              <a:t>b</a:t>
            </a:r>
          </a:p>
        </p:txBody>
      </p:sp>
      <p:sp>
        <p:nvSpPr>
          <p:cNvPr id="10" name="TextBox 9">
            <a:extLst>
              <a:ext uri="{FF2B5EF4-FFF2-40B4-BE49-F238E27FC236}">
                <a16:creationId xmlns:a16="http://schemas.microsoft.com/office/drawing/2014/main" id="{B597D631-A0D0-43D7-C30D-14634EE7118E}"/>
              </a:ext>
            </a:extLst>
          </p:cNvPr>
          <p:cNvSpPr txBox="1"/>
          <p:nvPr/>
        </p:nvSpPr>
        <p:spPr>
          <a:xfrm>
            <a:off x="-637419" y="2094709"/>
            <a:ext cx="708441" cy="307777"/>
          </a:xfrm>
          <a:prstGeom prst="rect">
            <a:avLst/>
          </a:prstGeom>
          <a:noFill/>
        </p:spPr>
        <p:txBody>
          <a:bodyPr wrap="square" rtlCol="0">
            <a:spAutoFit/>
          </a:bodyPr>
          <a:lstStyle/>
          <a:p>
            <a:r>
              <a:rPr lang="en-US" sz="700" dirty="0">
                <a:latin typeface="Arial" panose="020B0604020202020204" pitchFamily="34" charset="0"/>
                <a:cs typeface="Arial" panose="020B0604020202020204" pitchFamily="34" charset="0"/>
              </a:rPr>
              <a:t>Jun (ascending)</a:t>
            </a:r>
          </a:p>
        </p:txBody>
      </p:sp>
      <p:sp>
        <p:nvSpPr>
          <p:cNvPr id="11" name="TextBox 10">
            <a:extLst>
              <a:ext uri="{FF2B5EF4-FFF2-40B4-BE49-F238E27FC236}">
                <a16:creationId xmlns:a16="http://schemas.microsoft.com/office/drawing/2014/main" id="{056546B4-80D9-E7CF-5829-45ECF05C15B9}"/>
              </a:ext>
            </a:extLst>
          </p:cNvPr>
          <p:cNvSpPr txBox="1"/>
          <p:nvPr/>
        </p:nvSpPr>
        <p:spPr>
          <a:xfrm>
            <a:off x="-762970" y="3695583"/>
            <a:ext cx="708441" cy="307777"/>
          </a:xfrm>
          <a:prstGeom prst="rect">
            <a:avLst/>
          </a:prstGeom>
          <a:noFill/>
        </p:spPr>
        <p:txBody>
          <a:bodyPr wrap="square" rtlCol="0">
            <a:spAutoFit/>
          </a:bodyPr>
          <a:lstStyle/>
          <a:p>
            <a:r>
              <a:rPr lang="en-US" sz="700" dirty="0" err="1">
                <a:latin typeface="Arial" panose="020B0604020202020204" pitchFamily="34" charset="0"/>
                <a:cs typeface="Arial" panose="020B0604020202020204" pitchFamily="34" charset="0"/>
              </a:rPr>
              <a:t>Fos</a:t>
            </a:r>
            <a:r>
              <a:rPr lang="en-US" sz="700" dirty="0">
                <a:latin typeface="Arial" panose="020B0604020202020204" pitchFamily="34" charset="0"/>
                <a:cs typeface="Arial" panose="020B0604020202020204" pitchFamily="34" charset="0"/>
              </a:rPr>
              <a:t> (ascending)</a:t>
            </a:r>
          </a:p>
        </p:txBody>
      </p:sp>
      <p:pic>
        <p:nvPicPr>
          <p:cNvPr id="12" name="Picture 11">
            <a:extLst>
              <a:ext uri="{FF2B5EF4-FFF2-40B4-BE49-F238E27FC236}">
                <a16:creationId xmlns:a16="http://schemas.microsoft.com/office/drawing/2014/main" id="{92BB6A9C-5B18-85C7-FBE4-DBB314638825}"/>
              </a:ext>
            </a:extLst>
          </p:cNvPr>
          <p:cNvPicPr>
            <a:picLocks noChangeAspect="1"/>
          </p:cNvPicPr>
          <p:nvPr/>
        </p:nvPicPr>
        <p:blipFill>
          <a:blip r:embed="rId4"/>
          <a:stretch>
            <a:fillRect/>
          </a:stretch>
        </p:blipFill>
        <p:spPr>
          <a:xfrm>
            <a:off x="-57149" y="1794519"/>
            <a:ext cx="1968500" cy="1562100"/>
          </a:xfrm>
          <a:prstGeom prst="rect">
            <a:avLst/>
          </a:prstGeom>
        </p:spPr>
      </p:pic>
      <p:pic>
        <p:nvPicPr>
          <p:cNvPr id="13" name="Picture 12">
            <a:extLst>
              <a:ext uri="{FF2B5EF4-FFF2-40B4-BE49-F238E27FC236}">
                <a16:creationId xmlns:a16="http://schemas.microsoft.com/office/drawing/2014/main" id="{2BF9FE2E-CF9C-F916-0CBD-980EB680DBD2}"/>
              </a:ext>
            </a:extLst>
          </p:cNvPr>
          <p:cNvPicPr>
            <a:picLocks noChangeAspect="1"/>
          </p:cNvPicPr>
          <p:nvPr/>
        </p:nvPicPr>
        <p:blipFill>
          <a:blip r:embed="rId5"/>
          <a:stretch>
            <a:fillRect/>
          </a:stretch>
        </p:blipFill>
        <p:spPr>
          <a:xfrm>
            <a:off x="-86518" y="3282872"/>
            <a:ext cx="1968500" cy="1562100"/>
          </a:xfrm>
          <a:prstGeom prst="rect">
            <a:avLst/>
          </a:prstGeom>
        </p:spPr>
      </p:pic>
      <p:pic>
        <p:nvPicPr>
          <p:cNvPr id="14" name="Picture 13">
            <a:extLst>
              <a:ext uri="{FF2B5EF4-FFF2-40B4-BE49-F238E27FC236}">
                <a16:creationId xmlns:a16="http://schemas.microsoft.com/office/drawing/2014/main" id="{6EC4E269-629F-F207-657F-F70C5945C462}"/>
              </a:ext>
            </a:extLst>
          </p:cNvPr>
          <p:cNvPicPr>
            <a:picLocks noChangeAspect="1"/>
          </p:cNvPicPr>
          <p:nvPr/>
        </p:nvPicPr>
        <p:blipFill>
          <a:blip r:embed="rId6"/>
          <a:stretch>
            <a:fillRect/>
          </a:stretch>
        </p:blipFill>
        <p:spPr>
          <a:xfrm>
            <a:off x="1940720" y="1736749"/>
            <a:ext cx="1968500" cy="1562100"/>
          </a:xfrm>
          <a:prstGeom prst="rect">
            <a:avLst/>
          </a:prstGeom>
        </p:spPr>
      </p:pic>
      <p:pic>
        <p:nvPicPr>
          <p:cNvPr id="15" name="Picture 14">
            <a:extLst>
              <a:ext uri="{FF2B5EF4-FFF2-40B4-BE49-F238E27FC236}">
                <a16:creationId xmlns:a16="http://schemas.microsoft.com/office/drawing/2014/main" id="{B69A4324-B051-F7DE-7604-AF53A42C9663}"/>
              </a:ext>
            </a:extLst>
          </p:cNvPr>
          <p:cNvPicPr>
            <a:picLocks noChangeAspect="1"/>
          </p:cNvPicPr>
          <p:nvPr/>
        </p:nvPicPr>
        <p:blipFill>
          <a:blip r:embed="rId7"/>
          <a:stretch>
            <a:fillRect/>
          </a:stretch>
        </p:blipFill>
        <p:spPr>
          <a:xfrm>
            <a:off x="1932979" y="3222310"/>
            <a:ext cx="1968500" cy="1562100"/>
          </a:xfrm>
          <a:prstGeom prst="rect">
            <a:avLst/>
          </a:prstGeom>
        </p:spPr>
      </p:pic>
    </p:spTree>
    <p:extLst>
      <p:ext uri="{BB962C8B-B14F-4D97-AF65-F5344CB8AC3E}">
        <p14:creationId xmlns:p14="http://schemas.microsoft.com/office/powerpoint/2010/main" val="28925416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5819</TotalTime>
  <Words>186</Words>
  <Application>Microsoft Macintosh PowerPoint</Application>
  <PresentationFormat>Custom</PresentationFormat>
  <Paragraphs>37</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macrophages</vt:lpstr>
      <vt:lpstr>“Feminization” analysis of KO’s – make this a supp fig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Auerbach, Ben</dc:creator>
  <cp:lastModifiedBy>Auerbach, Ben</cp:lastModifiedBy>
  <cp:revision>69</cp:revision>
  <dcterms:created xsi:type="dcterms:W3CDTF">2022-09-13T02:17:13Z</dcterms:created>
  <dcterms:modified xsi:type="dcterms:W3CDTF">2022-11-29T15:41:04Z</dcterms:modified>
</cp:coreProperties>
</file>